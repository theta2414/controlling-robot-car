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9"/>
  </p:notesMasterIdLst>
  <p:sldIdLst>
    <p:sldId id="274" r:id="rId3"/>
    <p:sldId id="275" r:id="rId4"/>
    <p:sldId id="257" r:id="rId5"/>
    <p:sldId id="278" r:id="rId6"/>
    <p:sldId id="279" r:id="rId7"/>
    <p:sldId id="261" r:id="rId8"/>
    <p:sldId id="280" r:id="rId9"/>
    <p:sldId id="262" r:id="rId10"/>
    <p:sldId id="284" r:id="rId11"/>
    <p:sldId id="285" r:id="rId12"/>
    <p:sldId id="263" r:id="rId13"/>
    <p:sldId id="264" r:id="rId14"/>
    <p:sldId id="265" r:id="rId15"/>
    <p:sldId id="266" r:id="rId16"/>
    <p:sldId id="258" r:id="rId17"/>
    <p:sldId id="259" r:id="rId18"/>
    <p:sldId id="281" r:id="rId19"/>
    <p:sldId id="267" r:id="rId20"/>
    <p:sldId id="268" r:id="rId21"/>
    <p:sldId id="269" r:id="rId22"/>
    <p:sldId id="282" r:id="rId23"/>
    <p:sldId id="270" r:id="rId24"/>
    <p:sldId id="271" r:id="rId25"/>
    <p:sldId id="283" r:id="rId26"/>
    <p:sldId id="272" r:id="rId27"/>
    <p:sldId id="273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7BB98-F82A-4C83-B55E-2344AB225101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225FE-60F3-4C7C-9729-63857A7786D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84847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1BA2FE-5432-46C7-91C3-4E76B949512A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23607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6225FE-60F3-4C7C-9729-63857A7786D6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50104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1" y="3275011"/>
            <a:ext cx="11664949" cy="19811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74778" y="611738"/>
            <a:ext cx="3278293" cy="9233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328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884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328231"/>
          </a:xfrm>
        </p:spPr>
        <p:txBody>
          <a:bodyPr lIns="0" tIns="0" rIns="0" bIns="0"/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0065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92079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68761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5258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1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627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-1352" y="-13117"/>
            <a:ext cx="12193351" cy="6871117"/>
            <a:chOff x="-2026" y="-623"/>
            <a:chExt cx="18290026" cy="10306675"/>
          </a:xfrm>
        </p:grpSpPr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-2026" y="-74"/>
              <a:ext cx="18287999" cy="1030612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-623"/>
              <a:ext cx="18288000" cy="10287635"/>
            </a:xfrm>
            <a:custGeom>
              <a:avLst/>
              <a:gdLst/>
              <a:ahLst/>
              <a:cxnLst/>
              <a:rect l="l" t="t" r="r" b="b"/>
              <a:pathLst>
                <a:path w="18288000" h="10287635">
                  <a:moveTo>
                    <a:pt x="18288000" y="622"/>
                  </a:moveTo>
                  <a:lnTo>
                    <a:pt x="18285968" y="622"/>
                  </a:lnTo>
                  <a:lnTo>
                    <a:pt x="18285968" y="0"/>
                  </a:lnTo>
                  <a:lnTo>
                    <a:pt x="18276443" y="0"/>
                  </a:lnTo>
                  <a:lnTo>
                    <a:pt x="18276443" y="622"/>
                  </a:lnTo>
                  <a:lnTo>
                    <a:pt x="18276443" y="10147"/>
                  </a:lnTo>
                  <a:lnTo>
                    <a:pt x="18276443" y="10278097"/>
                  </a:lnTo>
                  <a:lnTo>
                    <a:pt x="11493" y="10278097"/>
                  </a:lnTo>
                  <a:lnTo>
                    <a:pt x="11493" y="10160"/>
                  </a:lnTo>
                  <a:lnTo>
                    <a:pt x="1968" y="10160"/>
                  </a:lnTo>
                  <a:lnTo>
                    <a:pt x="11493" y="10147"/>
                  </a:lnTo>
                  <a:lnTo>
                    <a:pt x="18276443" y="10147"/>
                  </a:lnTo>
                  <a:lnTo>
                    <a:pt x="18276443" y="622"/>
                  </a:lnTo>
                  <a:lnTo>
                    <a:pt x="11493" y="622"/>
                  </a:lnTo>
                  <a:lnTo>
                    <a:pt x="1968" y="622"/>
                  </a:lnTo>
                  <a:lnTo>
                    <a:pt x="1968" y="0"/>
                  </a:lnTo>
                  <a:lnTo>
                    <a:pt x="0" y="0"/>
                  </a:lnTo>
                  <a:lnTo>
                    <a:pt x="0" y="10160"/>
                  </a:lnTo>
                  <a:lnTo>
                    <a:pt x="0" y="10278110"/>
                  </a:lnTo>
                  <a:lnTo>
                    <a:pt x="0" y="10287000"/>
                  </a:lnTo>
                  <a:lnTo>
                    <a:pt x="1968" y="10287000"/>
                  </a:lnTo>
                  <a:lnTo>
                    <a:pt x="1968" y="10287622"/>
                  </a:lnTo>
                  <a:lnTo>
                    <a:pt x="11493" y="10287622"/>
                  </a:lnTo>
                  <a:lnTo>
                    <a:pt x="18276443" y="10287622"/>
                  </a:lnTo>
                  <a:lnTo>
                    <a:pt x="18276443" y="10287000"/>
                  </a:lnTo>
                  <a:lnTo>
                    <a:pt x="18285968" y="10287000"/>
                  </a:lnTo>
                  <a:lnTo>
                    <a:pt x="18285968" y="10287622"/>
                  </a:lnTo>
                  <a:lnTo>
                    <a:pt x="18288000" y="10287622"/>
                  </a:lnTo>
                  <a:lnTo>
                    <a:pt x="18288000" y="10278110"/>
                  </a:lnTo>
                  <a:lnTo>
                    <a:pt x="18288000" y="10160"/>
                  </a:lnTo>
                  <a:lnTo>
                    <a:pt x="18285968" y="10160"/>
                  </a:lnTo>
                  <a:lnTo>
                    <a:pt x="18288000" y="10147"/>
                  </a:lnTo>
                  <a:lnTo>
                    <a:pt x="18288000" y="622"/>
                  </a:lnTo>
                  <a:close/>
                </a:path>
              </a:pathLst>
            </a:custGeom>
            <a:solidFill>
              <a:srgbClr val="40709C"/>
            </a:solidFill>
          </p:spPr>
          <p:txBody>
            <a:bodyPr wrap="square" lIns="0" tIns="0" rIns="0" bIns="0" rtlCol="0"/>
            <a:lstStyle/>
            <a:p>
              <a:endParaRPr sz="120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076535" y="5980865"/>
            <a:ext cx="3854027" cy="495863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algn="ctr">
              <a:lnSpc>
                <a:spcPts val="1910"/>
              </a:lnSpc>
              <a:spcBef>
                <a:spcPts val="67"/>
              </a:spcBef>
            </a:pP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ĐẠI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HỌC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QUỐC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GIA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THÀNH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PHỐ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HỒ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CHÍ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MINH</a:t>
            </a:r>
            <a:endParaRPr sz="1600">
              <a:latin typeface="Calibri"/>
              <a:cs typeface="Calibri"/>
            </a:endParaRPr>
          </a:p>
          <a:p>
            <a:pPr algn="ctr">
              <a:lnSpc>
                <a:spcPts val="1910"/>
              </a:lnSpc>
            </a:pP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TRƯỜNG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ĐẠI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HỌC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BÁCH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spc="-13" dirty="0">
                <a:solidFill>
                  <a:srgbClr val="1F4E78"/>
                </a:solidFill>
                <a:latin typeface="Calibri"/>
                <a:cs typeface="Calibri"/>
              </a:rPr>
              <a:t>KHOA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473201" y="1365326"/>
            <a:ext cx="9245600" cy="624103"/>
          </a:xfrm>
          <a:prstGeom prst="rect">
            <a:avLst/>
          </a:prstGeom>
        </p:spPr>
        <p:txBody>
          <a:bodyPr vert="horz" wrap="square" lIns="0" tIns="8467" rIns="0" bIns="0" rtlCol="0" anchor="ctr">
            <a:spAutoFit/>
          </a:bodyPr>
          <a:lstStyle/>
          <a:p>
            <a:pPr>
              <a:spcBef>
                <a:spcPts val="67"/>
              </a:spcBef>
            </a:pPr>
            <a:r>
              <a:rPr lang="vi-VN" sz="4000" b="1" dirty="0">
                <a:solidFill>
                  <a:srgbClr val="5B9BD5"/>
                </a:solidFill>
                <a:ea typeface="+mn-ea"/>
                <a:cs typeface="times" panose="02020603050405020304" pitchFamily="18" charset="0"/>
              </a:rPr>
              <a:t>EMBEDDED C PROJECT</a:t>
            </a:r>
            <a:endParaRPr sz="4000" b="1" dirty="0">
              <a:solidFill>
                <a:srgbClr val="5B9BD5"/>
              </a:solidFill>
              <a:ea typeface="+mn-ea"/>
              <a:cs typeface="times" panose="02020603050405020304" pitchFamily="18" charset="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46083" y="221864"/>
            <a:ext cx="3146637" cy="921597"/>
            <a:chOff x="6369124" y="332796"/>
            <a:chExt cx="4719955" cy="1382395"/>
          </a:xfrm>
        </p:grpSpPr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66894" y="332796"/>
              <a:ext cx="1521809" cy="138239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69124" y="551823"/>
              <a:ext cx="2860677" cy="1015489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230046" y="2196326"/>
            <a:ext cx="9846310" cy="2808953"/>
          </a:xfrm>
          <a:prstGeom prst="rect">
            <a:avLst/>
          </a:prstGeom>
        </p:spPr>
        <p:txBody>
          <a:bodyPr vert="horz" wrap="square" lIns="0" tIns="114723" rIns="0" bIns="0" rtlCol="0">
            <a:spAutoFit/>
          </a:bodyPr>
          <a:lstStyle/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Hệ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thống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Xe Robot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không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dây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sử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dụng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MPU6050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và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PWM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trên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Vi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STM32F103</a:t>
            </a:r>
          </a:p>
          <a:p>
            <a:pPr algn="ctr"/>
            <a:endParaRPr lang="en-US" sz="2667" dirty="0"/>
          </a:p>
          <a:p>
            <a:pPr marR="295078" algn="ctr">
              <a:lnSpc>
                <a:spcPts val="2573"/>
              </a:lnSpc>
            </a:pPr>
            <a:r>
              <a:rPr sz="2233" b="1" dirty="0">
                <a:latin typeface="Calibri"/>
                <a:cs typeface="Calibri"/>
              </a:rPr>
              <a:t>NHÓM:</a:t>
            </a:r>
            <a:r>
              <a:rPr sz="2233" b="1" spc="3" dirty="0">
                <a:latin typeface="Calibri"/>
                <a:cs typeface="Calibri"/>
              </a:rPr>
              <a:t> </a:t>
            </a:r>
            <a:r>
              <a:rPr lang="vi-VN" sz="2233" b="1" spc="3" dirty="0">
                <a:latin typeface="+mj-lt"/>
                <a:cs typeface="times" panose="02020603050405020304" pitchFamily="18" charset="0"/>
              </a:rPr>
              <a:t>Pỏsche with no brakes</a:t>
            </a:r>
          </a:p>
          <a:p>
            <a:pPr marR="295078" algn="ctr">
              <a:lnSpc>
                <a:spcPts val="2573"/>
              </a:lnSpc>
            </a:pPr>
            <a:r>
              <a:rPr lang="vi-VN" sz="2233" b="1" spc="3" dirty="0">
                <a:latin typeface="+mj-lt"/>
                <a:cs typeface="times" panose="02020603050405020304" pitchFamily="18" charset="0"/>
              </a:rPr>
              <a:t>Mentor: Võ Quang Vinh</a:t>
            </a:r>
            <a:endParaRPr sz="2233" dirty="0">
              <a:latin typeface="+mj-lt"/>
              <a:cs typeface="times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78D3B5-3EEB-02A2-5DEF-944C031C19AB}"/>
              </a:ext>
            </a:extLst>
          </p:cNvPr>
          <p:cNvSpPr txBox="1"/>
          <p:nvPr/>
        </p:nvSpPr>
        <p:spPr>
          <a:xfrm>
            <a:off x="1918573" y="5212176"/>
            <a:ext cx="83521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vi-VN" sz="2000" b="0" dirty="0">
                <a:solidFill>
                  <a:srgbClr val="64707D"/>
                </a:solidFill>
                <a:latin typeface="+mj-lt"/>
                <a:cs typeface="times" panose="02020603050405020304" pitchFamily="18" charset="0"/>
              </a:rPr>
              <a:t>Mạch Viễn An • Phạm Đỗ Hồng Phúc • Nguyễn Công Tú • Nguyễn Phúc Khải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21175" y="2638881"/>
            <a:ext cx="7074184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1. INTRODUCTION &amp; OBJECTIVES</a:t>
            </a:r>
          </a:p>
          <a:p>
            <a:r>
              <a:t>1. ĐẶT VẤN ĐỀ &amp; MỤC TIÊU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1. Introduction &amp; Objectives — Đặt vấn đề &amp; Mục tiêu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977523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0898" y="1350860"/>
            <a:ext cx="4656841" cy="2796933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Bài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toán</a:t>
            </a:r>
            <a:r>
              <a:rPr dirty="0">
                <a:solidFill>
                  <a:schemeClr val="tx1"/>
                </a:solidFill>
              </a:rPr>
              <a:t> &amp; Lý do </a:t>
            </a:r>
            <a:r>
              <a:rPr dirty="0" err="1">
                <a:solidFill>
                  <a:schemeClr val="tx1"/>
                </a:solidFill>
              </a:rPr>
              <a:t>chọn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đề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tài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Điều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khiển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truyền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thống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bằng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nút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bấm</a:t>
            </a:r>
            <a:r>
              <a:rPr dirty="0">
                <a:solidFill>
                  <a:schemeClr val="tx1"/>
                </a:solidFill>
              </a:rPr>
              <a:t>, joystick </a:t>
            </a:r>
            <a:r>
              <a:rPr dirty="0" err="1">
                <a:solidFill>
                  <a:schemeClr val="tx1"/>
                </a:solidFill>
              </a:rPr>
              <a:t>thiếu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tính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trực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quan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và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phản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xạ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tự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nhiên</a:t>
            </a:r>
            <a:r>
              <a:rPr dirty="0">
                <a:solidFill>
                  <a:schemeClr val="tx1"/>
                </a:solidFill>
              </a:rPr>
              <a:t>.</a:t>
            </a: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MPU6050 (MEMS) </a:t>
            </a:r>
            <a:r>
              <a:rPr dirty="0" err="1">
                <a:solidFill>
                  <a:schemeClr val="tx1"/>
                </a:solidFill>
              </a:rPr>
              <a:t>đo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gia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tốc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và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vận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tốc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góc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kích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thước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nhỏ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gọn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độ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nhạy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cao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giá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thành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rẻ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Góc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nghiêng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bàn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tay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tạo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trải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nghiệm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tương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tác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người</a:t>
            </a:r>
            <a:r>
              <a:rPr dirty="0">
                <a:solidFill>
                  <a:schemeClr val="tx1"/>
                </a:solidFill>
              </a:rPr>
              <a:t> - </a:t>
            </a:r>
            <a:r>
              <a:rPr dirty="0" err="1">
                <a:solidFill>
                  <a:schemeClr val="tx1"/>
                </a:solidFill>
              </a:rPr>
              <a:t>máy</a:t>
            </a:r>
            <a:r>
              <a:rPr dirty="0">
                <a:solidFill>
                  <a:schemeClr val="tx1"/>
                </a:solidFill>
              </a:rPr>
              <a:t> (HMI) </a:t>
            </a:r>
            <a:r>
              <a:rPr dirty="0" err="1">
                <a:solidFill>
                  <a:schemeClr val="tx1"/>
                </a:solidFill>
              </a:rPr>
              <a:t>tự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nhiên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và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tức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thời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hơn</a:t>
            </a:r>
            <a:r>
              <a:rPr dirty="0">
                <a:solidFill>
                  <a:schemeClr val="tx1"/>
                </a:solidFill>
              </a:rPr>
              <a:t>.</a:t>
            </a:r>
            <a:endParaRPr lang="vi-V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4260" y="1319619"/>
            <a:ext cx="4656841" cy="2828173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Mục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tiêu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dự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án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Khối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phát</a:t>
            </a:r>
            <a:r>
              <a:rPr dirty="0">
                <a:solidFill>
                  <a:schemeClr val="tx1"/>
                </a:solidFill>
              </a:rPr>
              <a:t> (Tay </a:t>
            </a:r>
            <a:r>
              <a:rPr dirty="0" err="1">
                <a:solidFill>
                  <a:schemeClr val="tx1"/>
                </a:solidFill>
              </a:rPr>
              <a:t>cầm</a:t>
            </a:r>
            <a:r>
              <a:rPr dirty="0">
                <a:solidFill>
                  <a:schemeClr val="tx1"/>
                </a:solidFill>
              </a:rPr>
              <a:t>): STM32F103 </a:t>
            </a:r>
            <a:r>
              <a:rPr dirty="0" err="1">
                <a:solidFill>
                  <a:schemeClr val="tx1"/>
                </a:solidFill>
              </a:rPr>
              <a:t>đọc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dữ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liệu</a:t>
            </a:r>
            <a:r>
              <a:rPr dirty="0">
                <a:solidFill>
                  <a:schemeClr val="tx1"/>
                </a:solidFill>
              </a:rPr>
              <a:t> MPU6050 qua I2C, </a:t>
            </a:r>
            <a:r>
              <a:rPr dirty="0" err="1">
                <a:solidFill>
                  <a:schemeClr val="tx1"/>
                </a:solidFill>
              </a:rPr>
              <a:t>ước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lượng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góc</a:t>
            </a:r>
            <a:r>
              <a:rPr dirty="0">
                <a:solidFill>
                  <a:schemeClr val="tx1"/>
                </a:solidFill>
              </a:rPr>
              <a:t> Pitch/Roll.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Truyền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thông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Kết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nối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không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dây</a:t>
            </a:r>
            <a:r>
              <a:rPr dirty="0">
                <a:solidFill>
                  <a:schemeClr val="tx1"/>
                </a:solidFill>
              </a:rPr>
              <a:t> Master-Slave </a:t>
            </a:r>
            <a:r>
              <a:rPr dirty="0" err="1">
                <a:solidFill>
                  <a:schemeClr val="tx1"/>
                </a:solidFill>
              </a:rPr>
              <a:t>bằng</a:t>
            </a:r>
            <a:r>
              <a:rPr dirty="0">
                <a:solidFill>
                  <a:schemeClr val="tx1"/>
                </a:solidFill>
              </a:rPr>
              <a:t> 2 module Bluetooth HC-05 qua UART.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Khối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thu</a:t>
            </a:r>
            <a:r>
              <a:rPr dirty="0">
                <a:solidFill>
                  <a:schemeClr val="tx1"/>
                </a:solidFill>
              </a:rPr>
              <a:t> (Xe): STM32F103 </a:t>
            </a:r>
            <a:r>
              <a:rPr dirty="0" err="1">
                <a:solidFill>
                  <a:schemeClr val="tx1"/>
                </a:solidFill>
              </a:rPr>
              <a:t>giải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mã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gói</a:t>
            </a:r>
            <a:r>
              <a:rPr dirty="0">
                <a:solidFill>
                  <a:schemeClr val="tx1"/>
                </a:solidFill>
              </a:rPr>
              <a:t> tin UART, </a:t>
            </a:r>
            <a:r>
              <a:rPr dirty="0" err="1">
                <a:solidFill>
                  <a:schemeClr val="tx1"/>
                </a:solidFill>
              </a:rPr>
              <a:t>xuất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tín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hiệu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băm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xung</a:t>
            </a:r>
            <a:r>
              <a:rPr dirty="0">
                <a:solidFill>
                  <a:schemeClr val="tx1"/>
                </a:solidFill>
              </a:rPr>
              <a:t> PWM </a:t>
            </a:r>
            <a:r>
              <a:rPr dirty="0" err="1">
                <a:solidFill>
                  <a:schemeClr val="tx1"/>
                </a:solidFill>
              </a:rPr>
              <a:t>và</a:t>
            </a:r>
            <a:r>
              <a:rPr dirty="0">
                <a:solidFill>
                  <a:schemeClr val="tx1"/>
                </a:solidFill>
              </a:rPr>
              <a:t> GPIO </a:t>
            </a:r>
            <a:r>
              <a:rPr dirty="0" err="1">
                <a:solidFill>
                  <a:schemeClr val="tx1"/>
                </a:solidFill>
              </a:rPr>
              <a:t>điều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hướng</a:t>
            </a:r>
            <a:r>
              <a:rPr dirty="0">
                <a:solidFill>
                  <a:schemeClr val="tx1"/>
                </a:solidFill>
              </a:rPr>
              <a:t>.</a:t>
            </a: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Driver TB6612FNG: </a:t>
            </a:r>
            <a:r>
              <a:rPr dirty="0" err="1">
                <a:solidFill>
                  <a:schemeClr val="tx1"/>
                </a:solidFill>
              </a:rPr>
              <a:t>Điều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khiển</a:t>
            </a:r>
            <a:r>
              <a:rPr dirty="0">
                <a:solidFill>
                  <a:schemeClr val="tx1"/>
                </a:solidFill>
              </a:rPr>
              <a:t> 4 </a:t>
            </a:r>
            <a:r>
              <a:rPr dirty="0" err="1">
                <a:solidFill>
                  <a:schemeClr val="tx1"/>
                </a:solidFill>
              </a:rPr>
              <a:t>động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cơ</a:t>
            </a:r>
            <a:r>
              <a:rPr dirty="0">
                <a:solidFill>
                  <a:schemeClr val="tx1"/>
                </a:solidFill>
              </a:rPr>
              <a:t> DC </a:t>
            </a:r>
            <a:r>
              <a:rPr dirty="0" err="1">
                <a:solidFill>
                  <a:schemeClr val="tx1"/>
                </a:solidFill>
              </a:rPr>
              <a:t>chổi</a:t>
            </a:r>
            <a:r>
              <a:rPr dirty="0">
                <a:solidFill>
                  <a:schemeClr val="tx1"/>
                </a:solidFill>
              </a:rPr>
              <a:t> than </a:t>
            </a:r>
            <a:r>
              <a:rPr dirty="0" err="1">
                <a:solidFill>
                  <a:schemeClr val="tx1"/>
                </a:solidFill>
              </a:rPr>
              <a:t>hoạt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động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mượt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mà</a:t>
            </a:r>
            <a:r>
              <a:rPr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0898" y="4561630"/>
            <a:ext cx="9590203" cy="151913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dirty="0">
                <a:solidFill>
                  <a:schemeClr val="tx1"/>
                </a:solidFill>
              </a:rPr>
              <a:t>Phạm vi &amp; </a:t>
            </a:r>
            <a:r>
              <a:rPr dirty="0" err="1">
                <a:solidFill>
                  <a:schemeClr val="tx1"/>
                </a:solidFill>
              </a:rPr>
              <a:t>Giới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hạn</a:t>
            </a:r>
            <a:endParaRPr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Địa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hình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Thử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nghiệm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trên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mặt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phẳng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nằm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quang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độ</a:t>
            </a:r>
            <a:r>
              <a:rPr dirty="0">
                <a:solidFill>
                  <a:schemeClr val="tx1"/>
                </a:solidFill>
              </a:rPr>
              <a:t> ma </a:t>
            </a:r>
            <a:r>
              <a:rPr dirty="0" err="1">
                <a:solidFill>
                  <a:schemeClr val="tx1"/>
                </a:solidFill>
              </a:rPr>
              <a:t>sát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đồng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đều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Kết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nối</a:t>
            </a:r>
            <a:r>
              <a:rPr dirty="0">
                <a:solidFill>
                  <a:schemeClr val="tx1"/>
                </a:solidFill>
              </a:rPr>
              <a:t>: Phạm vi Bluetooth </a:t>
            </a:r>
            <a:r>
              <a:rPr dirty="0" err="1">
                <a:solidFill>
                  <a:schemeClr val="tx1"/>
                </a:solidFill>
              </a:rPr>
              <a:t>dưới</a:t>
            </a:r>
            <a:r>
              <a:rPr dirty="0">
                <a:solidFill>
                  <a:schemeClr val="tx1"/>
                </a:solidFill>
              </a:rPr>
              <a:t> 10m </a:t>
            </a:r>
            <a:r>
              <a:rPr dirty="0" err="1">
                <a:solidFill>
                  <a:schemeClr val="tx1"/>
                </a:solidFill>
              </a:rPr>
              <a:t>không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vật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cản</a:t>
            </a:r>
            <a:r>
              <a:rPr dirty="0">
                <a:solidFill>
                  <a:schemeClr val="tx1"/>
                </a:solidFill>
              </a:rPr>
              <a:t>. </a:t>
            </a:r>
            <a:r>
              <a:rPr dirty="0" err="1">
                <a:solidFill>
                  <a:schemeClr val="tx1"/>
                </a:solidFill>
              </a:rPr>
              <a:t>Có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chế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độ</a:t>
            </a:r>
            <a:r>
              <a:rPr dirty="0">
                <a:solidFill>
                  <a:schemeClr val="tx1"/>
                </a:solidFill>
              </a:rPr>
              <a:t> Fail-safe </a:t>
            </a:r>
            <a:r>
              <a:rPr dirty="0" err="1">
                <a:solidFill>
                  <a:schemeClr val="tx1"/>
                </a:solidFill>
              </a:rPr>
              <a:t>tự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ngắt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động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cơ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khi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mất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kết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nối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▸ </a:t>
            </a:r>
            <a:r>
              <a:rPr dirty="0" err="1">
                <a:solidFill>
                  <a:schemeClr val="tx1"/>
                </a:solidFill>
              </a:rPr>
              <a:t>Giới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hạn</a:t>
            </a:r>
            <a:r>
              <a:rPr dirty="0">
                <a:solidFill>
                  <a:schemeClr val="tx1"/>
                </a:solidFill>
              </a:rPr>
              <a:t>: Xe </a:t>
            </a:r>
            <a:r>
              <a:rPr dirty="0" err="1">
                <a:solidFill>
                  <a:schemeClr val="tx1"/>
                </a:solidFill>
              </a:rPr>
              <a:t>điều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khiển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trực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tiếp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bởi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người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dùng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không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tự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hành</a:t>
            </a:r>
            <a:r>
              <a:rPr dirty="0">
                <a:solidFill>
                  <a:schemeClr val="tx1"/>
                </a:solidFill>
              </a:rPr>
              <a:t> (</a:t>
            </a:r>
            <a:r>
              <a:rPr dirty="0" err="1">
                <a:solidFill>
                  <a:schemeClr val="tx1"/>
                </a:solidFill>
              </a:rPr>
              <a:t>không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tránh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vật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cản</a:t>
            </a:r>
            <a:r>
              <a:rPr dirty="0">
                <a:solidFill>
                  <a:schemeClr val="tx1"/>
                </a:solidFill>
              </a:rPr>
              <a:t>/</a:t>
            </a:r>
            <a:r>
              <a:rPr dirty="0" err="1">
                <a:solidFill>
                  <a:schemeClr val="tx1"/>
                </a:solidFill>
              </a:rPr>
              <a:t>dò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đường</a:t>
            </a:r>
            <a:r>
              <a:rPr dirty="0">
                <a:solidFill>
                  <a:schemeClr val="tx1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B005-55EB-8842-5253-403E4E3F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EE21D696-50CE-0461-1686-EF7B0AEEEA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286397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2. SYSTEM ARCHITECTURE</a:t>
            </a:r>
          </a:p>
          <a:p>
            <a:r>
              <a:t>2. KIẾN TRÚC HỆ THỐNG</a:t>
            </a:r>
          </a:p>
        </p:txBody>
      </p:sp>
    </p:spTree>
    <p:extLst>
      <p:ext uri="{BB962C8B-B14F-4D97-AF65-F5344CB8AC3E}">
        <p14:creationId xmlns:p14="http://schemas.microsoft.com/office/powerpoint/2010/main" val="2782792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AA67-6B9D-C68A-0760-B65EE8BD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>
            <a:extLst>
              <a:ext uri="{FF2B5EF4-FFF2-40B4-BE49-F238E27FC236}">
                <a16:creationId xmlns:a16="http://schemas.microsoft.com/office/drawing/2014/main" id="{ABFEA635-5D4D-0C70-C0B8-B83148ED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8E1B3D-60E5-481B-D250-26C6CB8F73AD}"/>
              </a:ext>
            </a:extLst>
          </p:cNvPr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2. System Architecture — Sơ đồ khối tổng thể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33DB5E-C2E4-4B97-7C57-4629AE60A6D0}"/>
              </a:ext>
            </a:extLst>
          </p:cNvPr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1D554EF-C487-6CD4-0D23-8EB9C5B15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28" y="901432"/>
            <a:ext cx="10688542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034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42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2. System Architecture — Luồng xử lý dữ liệu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883255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6552" y="1695882"/>
            <a:ext cx="1901952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 thập dữ liệu</a:t>
            </a: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Ax, Ay, Az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2511898" y="2610282"/>
            <a:ext cx="197775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09673" y="1700124"/>
            <a:ext cx="2346961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Tiền xử lý &amp; Calibration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 đổi dữ liệu raw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chỉnh gyro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</a:t>
            </a:r>
            <a:r>
              <a:rPr lang="en-US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</a:t>
            </a:r>
            <a:endParaRPr lang="vi-VN" sz="1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56634" y="2577445"/>
            <a:ext cx="2011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73323" y="170012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 lượng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Pitch/Roll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7285002" y="2577445"/>
            <a:ext cx="4236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28279" y="170930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endParaRPr lang="en-US"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Mapping ±45° → ±100</a:t>
            </a:r>
            <a:b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±5°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39958" y="2602964"/>
            <a:ext cx="201168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46325" y="1684842"/>
            <a:ext cx="2121125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nối</a:t>
            </a: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9600 bps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PWM + GPIO → motor</a:t>
            </a:r>
            <a:endParaRPr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709673" y="4534886"/>
            <a:ext cx="6830286" cy="96012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algn="ctr">
              <a:spcBef>
                <a:spcPts val="300"/>
              </a:spcBef>
              <a:defRPr sz="1600">
                <a:solidFill>
                  <a:srgbClr val="212B36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→ Forward control / Turn control → Robot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EAD6-2FB4-7FB5-7970-39223BDEE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CE65390-C7D5-92EC-0090-C94AD588AD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286397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3. ALGORITHMS &amp; IMPLEMENTATION</a:t>
            </a:r>
          </a:p>
          <a:p>
            <a:r>
              <a:t>3. THUẬT TOÁN &amp; TRIỂN KHAI</a:t>
            </a:r>
          </a:p>
        </p:txBody>
      </p:sp>
    </p:spTree>
    <p:extLst>
      <p:ext uri="{BB962C8B-B14F-4D97-AF65-F5344CB8AC3E}">
        <p14:creationId xmlns:p14="http://schemas.microsoft.com/office/powerpoint/2010/main" val="1385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Hardware &amp; Software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23960" y="6455664"/>
            <a:ext cx="20116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 Project • 08/2026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00800"/>
            <a:ext cx="274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10642" y="1280160"/>
            <a:ext cx="4785358" cy="32461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STM32F103C8T6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MPU6050: I2C1 (PB6/PB7).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HC-05: UART/USART1, Master–Slave.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TB6612FNG + 4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Li-ion 3.7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7.4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LM2596/AMS1117.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4389118" cy="32461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 HAL + 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I2C 100 kHz; UART 9600 bps; PWM 1kHz.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Calibration + atan2f + Kalman Filter.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Timeout 1.5 s → PWM =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92040"/>
            <a:ext cx="14630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nghệ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STM32 HAL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Bluetooth SPP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59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Filter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3. Implementation — Sơ đồ nguyên lý Khối Phát (Transmitter)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7432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hematic-Transmi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371600"/>
            <a:ext cx="6858000" cy="49651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3. Implementation — Sơ đồ nguyên lý Khối Thu (Receiver)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7432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hematic-Recei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463040"/>
            <a:ext cx="10058400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Thuật toán lọc Kalman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20" y="1325880"/>
            <a:ext cx="4739954" cy="38404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sao</a:t>
            </a:r>
            <a:r>
              <a:rPr lang="vi-VN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sử dụng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Kalman?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Accelerometer: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nhạy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Gyroscope: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drift.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sensor fusion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vì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1325880"/>
            <a:ext cx="4831080" cy="38404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t>Giải pháp &amp; Phương trình bộ lọc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Trạng thái: x_k = [θ_k, b_k]ᵀ (góc và bias con quay hồi chuyển)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Bước dự đoán (Prediction):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  θ_k^{-} = θ_{k-1} + (ω_measured - b_{k-1})Δt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  b_k^{-} = b_{k-1}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▸ Bước cập nhật (Measurement Update):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  y_k = z_k - θ_k^{-} (với z_k = θ_acc từ accelerometer)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  θ_k = θ_k^{-} + K_0 * y_k (cập nhật góc)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  b_k = b_{k-1} + K_1 * y_k (cập nhật bias gyro)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▸ Tham số trong code: Q_angle = 0.001, Q_bias = 0.003, R_measure = 0.03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5486400"/>
            <a:ext cx="8229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→ Prediction  |  Accelerometer → Measurement Update  |  → Estimated Angle</a:t>
            </a:r>
            <a:endParaRPr sz="1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Calibration &amp; Tần số xử lý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6334" y="1325880"/>
            <a:ext cx="4663440" cy="26974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Calibration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MPU6050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Thu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thập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Tính trung bình vận tốc góc để xác định gyro bias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≈ 0°.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2226" y="1325880"/>
            <a:ext cx="4663440" cy="26974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sampling = 100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Main loop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≈ 20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≈ 50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6334" y="4526280"/>
            <a:ext cx="3120273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angle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693527" y="4526280"/>
            <a:ext cx="3053342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53789" y="4526280"/>
            <a:ext cx="2871877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measure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accelerometer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Ánh xạ góc &amp; Điều tốc PWM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45920" y="1325880"/>
            <a:ext cx="4754880" cy="34747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t>Mapping góc thô → control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Góc thô từ Kalman được giới hạn: −60° … +60°.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Giá trị điều khiển (Output): −80 … +80 (Giới hạn Duty Cycle 80%).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Dải chết (Deadzone): −8° &lt; θ &lt; +8° → control = 0 (khử nhiễu rung tay).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t>▸ Hàm phi tuyến (Exponential Response) giúp lái mượt ở góc nhỏ:</a:t>
            </a:r>
          </a:p>
          <a:p>
            <a:pPr>
              <a:defRPr sz="1400">
                <a:solidFill>
                  <a:srgbClr val="212B36"/>
                </a:solidFill>
                <a:latin typeface="Calibri"/>
              </a:defRPr>
            </a:pPr>
            <a:r>
              <a:t>  u = sign(θ) * ((|θ| − 8) / (60 − 8))² * 80 (với |θ| &gt; 8°)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554480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r>
              <a:t>-60°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660302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-80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221991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r>
              <a:t>-34°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348273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-20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889504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r>
              <a:t>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030900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557015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r>
              <a:t>+34°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5380" y="3666074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+20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224528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r>
              <a:t>+60°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339161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+80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90481" y="5068969"/>
            <a:ext cx="4852542" cy="1508583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t>PWM &amp; Lái vi sai động cơ</a:t>
            </a:r>
            <a:endParaRPr sz="17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t>▸ Gửi liên tục chuỗi ký tự "F:%d T:%d\n" qua Bluetooth.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t>▸ Lái vi sai (Differential Steering) tại Khối thu: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t>  • left_speed = clamp(forward + turn)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t>  • right_speed = clamp(forward - turn)</a:t>
            </a:r>
          </a:p>
          <a:p>
            <a:pPr>
              <a:defRPr sz="1100">
                <a:solidFill>
                  <a:srgbClr val="212B36"/>
                </a:solidFill>
                <a:latin typeface="Calibri"/>
              </a:defRPr>
            </a:pPr>
            <a:r>
              <a:t>▸ Hướng quay (GPIO) quyết định bởi dấu của speed.</a:t>
            </a:r>
          </a:p>
          <a:p>
            <a:pPr>
              <a:defRPr sz="1100">
                <a:solidFill>
                  <a:srgbClr val="212B36"/>
                </a:solidFill>
                <a:latin typeface="Calibri"/>
              </a:defRPr>
            </a:pPr>
            <a:r>
              <a:t>▸ Tốc độ (PWM) quyết định bởi trị tuyệt đối của speed.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Logic điều khiển &amp; An toàn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92577" y="149939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576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51423" y="155448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0" y="36576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1" y="4508723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FAIL-SAFE</a:t>
            </a:r>
          </a:p>
        </p:txBody>
      </p:sp>
      <p:cxnSp>
        <p:nvCxnSpPr>
          <p:cNvPr id="13" name="Connector 12"/>
          <p:cNvCxnSpPr>
            <a:cxnSpLocks/>
            <a:endCxn id="8" idx="3"/>
          </p:cNvCxnSpPr>
          <p:nvPr/>
        </p:nvCxnSpPr>
        <p:spPr>
          <a:xfrm flipH="1" flipV="1">
            <a:off x="3467096" y="1888010"/>
            <a:ext cx="1104904" cy="128016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 flipH="1">
            <a:off x="3703320" y="2592994"/>
            <a:ext cx="937259" cy="1201766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endCxn id="10" idx="1"/>
          </p:cNvCxnSpPr>
          <p:nvPr/>
        </p:nvCxnSpPr>
        <p:spPr>
          <a:xfrm flipV="1">
            <a:off x="6446519" y="1943100"/>
            <a:ext cx="1104904" cy="298594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  <a:endCxn id="11" idx="1"/>
          </p:cNvCxnSpPr>
          <p:nvPr/>
        </p:nvCxnSpPr>
        <p:spPr>
          <a:xfrm>
            <a:off x="6438899" y="2537460"/>
            <a:ext cx="1485901" cy="150876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  <a:stCxn id="7" idx="2"/>
            <a:endCxn id="12" idx="0"/>
          </p:cNvCxnSpPr>
          <p:nvPr/>
        </p:nvCxnSpPr>
        <p:spPr>
          <a:xfrm>
            <a:off x="5509260" y="2606040"/>
            <a:ext cx="182881" cy="1902683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88818" y="1288827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 &gt; +25°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5972" y="4434840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 &lt; −25°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3612" y="1317329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 &lt; −25°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8682" y="4498848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 &gt; +25°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3099" y="4221323"/>
            <a:ext cx="19202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Mất Bluetooth &gt; 300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83080" y="5623559"/>
            <a:ext cx="8869680" cy="841249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t>Nguyên tắc vận hành &amp; An toàn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000">
                <a:solidFill>
                  <a:srgbClr val="212B36"/>
                </a:solidFill>
                <a:latin typeface="Calibri"/>
              </a:defRPr>
            </a:pPr>
            <a:r>
              <a:t>▸ Dừng mặc định: Khi forward và turn đều bằng 0 (trong dải chết ±8°).</a:t>
            </a:r>
          </a:p>
          <a:p>
            <a:pPr>
              <a:defRPr sz="1000">
                <a:solidFill>
                  <a:srgbClr val="212B36"/>
                </a:solidFill>
                <a:latin typeface="Calibri"/>
              </a:defRPr>
            </a:pPr>
            <a:r>
              <a:t>▸ Điều hướng lái xe: Sử dụng lái vi sai để quay hướng linh hoạt.</a:t>
            </a:r>
          </a:p>
          <a:p>
            <a:pPr>
              <a:defRPr sz="1000">
                <a:solidFill>
                  <a:srgbClr val="212B36"/>
                </a:solidFill>
                <a:latin typeface="Calibri"/>
              </a:defRPr>
            </a:pPr>
            <a:r>
              <a:t>▸ Timeout 300 ms (Fail-Safe): Lập tức gọi Motor_Stop() nếu mất kết nối.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Sơ đồ Máy trạng thái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Sơ đồ FSM Khối Phát (Transmitter)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Sơ đồ FSM Khối Thu (Receiver)</a:t>
            </a:r>
          </a:p>
        </p:txBody>
      </p:sp>
      <p:pic>
        <p:nvPicPr>
          <p:cNvPr id="6" name="Picture 5" descr="Transmitter_FSP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3383280"/>
          </a:xfrm>
          <a:prstGeom prst="rect">
            <a:avLst/>
          </a:prstGeom>
        </p:spPr>
      </p:pic>
      <p:pic>
        <p:nvPicPr>
          <p:cNvPr id="7" name="Picture 6" descr="Receiver_FSP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11680"/>
            <a:ext cx="53035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427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83765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3. Implementation — Lưu đồ giải thuật chi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Lưu đồ giải thuật - Khối Phát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1887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Lưu đồ giải thuật - Khối Thu</a:t>
            </a:r>
          </a:p>
        </p:txBody>
      </p:sp>
      <p:pic>
        <p:nvPicPr>
          <p:cNvPr id="6" name="Picture 5" descr="Transmitter_Flowchart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45920"/>
            <a:ext cx="3749039" cy="4389120"/>
          </a:xfrm>
          <a:prstGeom prst="rect">
            <a:avLst/>
          </a:prstGeom>
        </p:spPr>
      </p:pic>
      <p:pic>
        <p:nvPicPr>
          <p:cNvPr id="7" name="Picture 6" descr="Receiver_Flowchart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645920"/>
            <a:ext cx="3383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ED241-E386-24B1-4868-775273EA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8C631A0-8E85-A9E6-1350-752DDA94A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44665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4. EXPERIMENT &amp; RESULTS</a:t>
            </a:r>
          </a:p>
          <a:p>
            <a:r>
              <a:t>4. THỬ NGHIỆM &amp; KẾT QUẢ</a:t>
            </a:r>
          </a:p>
        </p:txBody>
      </p:sp>
    </p:spTree>
    <p:extLst>
      <p:ext uri="{BB962C8B-B14F-4D97-AF65-F5344CB8AC3E}">
        <p14:creationId xmlns:p14="http://schemas.microsoft.com/office/powerpoint/2010/main" val="3601918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Kịch bản thử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19" y="1332007"/>
            <a:ext cx="4909637" cy="27889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MPU6050 + HC-05 Master.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Xe: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HC-05 Slave + TB6612FNG + 4 DC Motor.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0226" y="1325880"/>
            <a:ext cx="4425413" cy="27889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kịch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0°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 fail-safe.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617720"/>
            <a:ext cx="8503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MPU6050 100 Hz   |   Loop ≈ 50 Hz   |   UART 9600 bps   |   PWM 1 kHz   |   Timeout 300 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Tiêu chí đánh giá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28800" y="1464696"/>
            <a:ext cx="8577072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 / 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642426"/>
            <a:ext cx="8577072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799" y="3820156"/>
            <a:ext cx="8644379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997886"/>
            <a:ext cx="8644378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An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1.5 s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4. Experiment &amp; Results — Kết quả &amp; So sánh bộ lọc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63040" y="1325880"/>
            <a:ext cx="324612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Accelerometer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3063240" cy="3154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lũy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→ drift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25880"/>
            <a:ext cx="306324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+ measurement.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Cân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800600"/>
            <a:ext cx="88696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• mapping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94458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840479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32521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EB213-00D8-34DA-6AE9-E36DE1D6E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FEC254D-C2CE-3217-BE86-57BFDE6AB7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44665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5. REAL DEMO &amp; EVALUATION</a:t>
            </a:r>
          </a:p>
          <a:p>
            <a:r>
              <a:t>5. DEMO THỰC TẾ &amp; ĐÁNH GIÁ</a:t>
            </a:r>
          </a:p>
        </p:txBody>
      </p:sp>
    </p:spTree>
    <p:extLst>
      <p:ext uri="{BB962C8B-B14F-4D97-AF65-F5344CB8AC3E}">
        <p14:creationId xmlns:p14="http://schemas.microsoft.com/office/powerpoint/2010/main" val="3250122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5. Real Demo — Các bước tiến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5077" y="1577340"/>
            <a:ext cx="27978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575631"/>
            <a:ext cx="27205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7383" y="157734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3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FORWARD / BACKWARD.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64015" y="3429000"/>
            <a:ext cx="27978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LEFT / RIGHT.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7540" y="343723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→ STOP.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5077" y="5074920"/>
            <a:ext cx="9584547" cy="80467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5. Demo — Đánh giá ưu điểm &amp; Hạn chế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00200" y="1384916"/>
            <a:ext cx="4709160" cy="2746701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Giao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sensing → estimation → wireless → actuation.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calibration, Kalman,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297680" cy="280573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Phạm vi Bluetooth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409" y="4540420"/>
            <a:ext cx="213988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17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35479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BLE / Web Bluetooth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IMU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2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935479" y="5628265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avoidance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5590890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Logging &amp; benchmark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95F8-8169-3B51-3E4E-B41A6033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BB441E4-31D7-CDC2-A4BC-14DCF23079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5" y="2501395"/>
            <a:ext cx="8456838" cy="185520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r>
              <a:t>6. CONCLUSION &amp; FUTURE WORK</a:t>
            </a:r>
          </a:p>
          <a:p>
            <a:r>
              <a:t>6. KẾT LUẬN &amp;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3853169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6. Kết luận &amp; 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7592" y="1350861"/>
            <a:ext cx="4709160" cy="32918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+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HC-05/UART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STM32 + TB6612 + PWM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5248" y="1350861"/>
            <a:ext cx="4709160" cy="3291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latency, packet loss,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Thay HC-05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BLE / Web Bluetooth.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lọc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control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257800"/>
            <a:ext cx="8686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quyết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robot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0" y="2091569"/>
            <a:ext cx="4846320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54680"/>
            <a:ext cx="63093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10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anh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3750602"/>
            <a:ext cx="6126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304481"/>
            <a:ext cx="6675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HCMUT • Embedded C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2075</Words>
  <Application>Microsoft Office PowerPoint</Application>
  <PresentationFormat>Widescreen</PresentationFormat>
  <Paragraphs>242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times</vt:lpstr>
      <vt:lpstr>Times New Roman</vt:lpstr>
      <vt:lpstr>Office Theme</vt:lpstr>
      <vt:lpstr>1_Office Theme</vt:lpstr>
      <vt:lpstr>EMBEDDED C PROJECT</vt:lpstr>
      <vt:lpstr>1. INTRODUCTION &amp; OBJECTIVES 1. ĐẶT VẤN ĐỀ &amp; MỤC TIÊU</vt:lpstr>
      <vt:lpstr>PowerPoint Presentation</vt:lpstr>
      <vt:lpstr>2. SYSTEM ARCHITECTURE 2. KIẾN TRÚC HỆ THỐNG</vt:lpstr>
      <vt:lpstr>PowerPoint Presentation</vt:lpstr>
      <vt:lpstr>PowerPoint Presentation</vt:lpstr>
      <vt:lpstr>3. ALGORITHMS &amp; IMPLEMENTATION 3. THUẬT TOÁN &amp; TRIỂN KHAI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EXPERIMENT &amp; RESULTS 4. THỬ NGHIỆM &amp; KẾT QUẢ</vt:lpstr>
      <vt:lpstr>PowerPoint Presentation</vt:lpstr>
      <vt:lpstr>PowerPoint Presentation</vt:lpstr>
      <vt:lpstr>PowerPoint Presentation</vt:lpstr>
      <vt:lpstr>5. REAL DEMO &amp; EVALUATION 5. DEMO THỰC TẾ &amp; ĐÁNH GIÁ</vt:lpstr>
      <vt:lpstr>PowerPoint Presentation</vt:lpstr>
      <vt:lpstr>PowerPoint Presentation</vt:lpstr>
      <vt:lpstr>6. CONCLUSION &amp; FUTURE WORK 6. KẾT LUẬN &amp; HƯỚNG PHÁT TRIỂN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MẠCH VIỄN AN</cp:lastModifiedBy>
  <cp:revision>6</cp:revision>
  <dcterms:created xsi:type="dcterms:W3CDTF">2013-01-27T09:14:16Z</dcterms:created>
  <dcterms:modified xsi:type="dcterms:W3CDTF">2026-08-27T13:59:06Z</dcterms:modified>
  <cp:category/>
</cp:coreProperties>
</file>