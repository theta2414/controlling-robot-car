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jpg" ContentType="image/jpg"/>
  <Override PartName="/ppt/media/image2.jpg" ContentType="image/jpg"/>
  <Override PartName="/ppt/media/image3.jpg" ContentType="image/jpg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8"/>
  </p:notesMasterIdLst>
  <p:sldIdLst>
    <p:sldId id="274" r:id="rId3"/>
    <p:sldId id="275" r:id="rId4"/>
    <p:sldId id="257" r:id="rId5"/>
    <p:sldId id="278" r:id="rId6"/>
    <p:sldId id="279" r:id="rId7"/>
    <p:sldId id="261" r:id="rId8"/>
    <p:sldId id="280" r:id="rId9"/>
    <p:sldId id="262" r:id="rId10"/>
    <p:sldId id="284" r:id="rId11"/>
    <p:sldId id="285" r:id="rId12"/>
    <p:sldId id="263" r:id="rId13"/>
    <p:sldId id="264" r:id="rId14"/>
    <p:sldId id="265" r:id="rId15"/>
    <p:sldId id="258" r:id="rId16"/>
    <p:sldId id="259" r:id="rId17"/>
    <p:sldId id="281" r:id="rId18"/>
    <p:sldId id="267" r:id="rId19"/>
    <p:sldId id="268" r:id="rId20"/>
    <p:sldId id="269" r:id="rId21"/>
    <p:sldId id="282" r:id="rId22"/>
    <p:sldId id="270" r:id="rId23"/>
    <p:sldId id="271" r:id="rId24"/>
    <p:sldId id="283" r:id="rId25"/>
    <p:sldId id="272" r:id="rId26"/>
    <p:sldId id="273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7BB98-F82A-4C83-B55E-2344AB225101}" type="datetimeFigureOut">
              <a:rPr lang="vi-VN" smtClean="0"/>
              <a:t>27/08/2026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225FE-60F3-4C7C-9729-63857A7786D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84847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1BA2FE-5432-46C7-91C3-4E76B949512A}" type="slidenum">
              <a:rPr lang="vi-VN" smtClean="0"/>
              <a:t>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23607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6225FE-60F3-4C7C-9729-63857A7786D6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50104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1" y="3275011"/>
            <a:ext cx="11664949" cy="19811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4778" y="611738"/>
            <a:ext cx="3278293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328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33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88433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923330"/>
          </a:xfrm>
        </p:spPr>
        <p:txBody>
          <a:bodyPr lIns="0" tIns="0" rIns="0" bIns="0"/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190" y="1375975"/>
            <a:ext cx="11037570" cy="328231"/>
          </a:xfrm>
        </p:spPr>
        <p:txBody>
          <a:bodyPr lIns="0" tIns="0" rIns="0" bIns="0"/>
          <a:lstStyle>
            <a:lvl1pPr>
              <a:defRPr sz="2133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0065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923330"/>
          </a:xfrm>
        </p:spPr>
        <p:txBody>
          <a:bodyPr lIns="0" tIns="0" rIns="0" bIns="0"/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92079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923330"/>
          </a:xfrm>
        </p:spPr>
        <p:txBody>
          <a:bodyPr lIns="0" tIns="0" rIns="0" bIns="0"/>
          <a:lstStyle>
            <a:lvl1pPr>
              <a:defRPr sz="6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8761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52586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90361" y="2728123"/>
            <a:ext cx="10611276" cy="138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0" b="1" i="0">
                <a:solidFill>
                  <a:srgbClr val="1F4E78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7190" y="1375975"/>
            <a:ext cx="1103757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62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04815">
        <a:defRPr>
          <a:latin typeface="+mn-lt"/>
          <a:ea typeface="+mn-ea"/>
          <a:cs typeface="+mn-cs"/>
        </a:defRPr>
      </a:lvl2pPr>
      <a:lvl3pPr marL="609630">
        <a:defRPr>
          <a:latin typeface="+mn-lt"/>
          <a:ea typeface="+mn-ea"/>
          <a:cs typeface="+mn-cs"/>
        </a:defRPr>
      </a:lvl3pPr>
      <a:lvl4pPr marL="914446">
        <a:defRPr>
          <a:latin typeface="+mn-lt"/>
          <a:ea typeface="+mn-ea"/>
          <a:cs typeface="+mn-cs"/>
        </a:defRPr>
      </a:lvl4pPr>
      <a:lvl5pPr marL="1219261">
        <a:defRPr>
          <a:latin typeface="+mn-lt"/>
          <a:ea typeface="+mn-ea"/>
          <a:cs typeface="+mn-cs"/>
        </a:defRPr>
      </a:lvl5pPr>
      <a:lvl6pPr marL="1524076">
        <a:defRPr>
          <a:latin typeface="+mn-lt"/>
          <a:ea typeface="+mn-ea"/>
          <a:cs typeface="+mn-cs"/>
        </a:defRPr>
      </a:lvl6pPr>
      <a:lvl7pPr marL="1828891">
        <a:defRPr>
          <a:latin typeface="+mn-lt"/>
          <a:ea typeface="+mn-ea"/>
          <a:cs typeface="+mn-cs"/>
        </a:defRPr>
      </a:lvl7pPr>
      <a:lvl8pPr marL="2133707">
        <a:defRPr>
          <a:latin typeface="+mn-lt"/>
          <a:ea typeface="+mn-ea"/>
          <a:cs typeface="+mn-cs"/>
        </a:defRPr>
      </a:lvl8pPr>
      <a:lvl9pPr marL="243852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1352" y="-13117"/>
            <a:ext cx="12193351" cy="6871117"/>
            <a:chOff x="-2026" y="-623"/>
            <a:chExt cx="18290026" cy="10306675"/>
          </a:xfrm>
        </p:grpSpPr>
        <p:pic>
          <p:nvPicPr>
            <p:cNvPr id="4" name="object 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2026" y="-74"/>
              <a:ext cx="18287999" cy="103061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-623"/>
              <a:ext cx="18288000" cy="10287635"/>
            </a:xfrm>
            <a:custGeom>
              <a:avLst/>
              <a:gdLst/>
              <a:ahLst/>
              <a:cxnLst/>
              <a:rect l="l" t="t" r="r" b="b"/>
              <a:pathLst>
                <a:path w="18288000" h="10287635">
                  <a:moveTo>
                    <a:pt x="18288000" y="622"/>
                  </a:moveTo>
                  <a:lnTo>
                    <a:pt x="18285968" y="622"/>
                  </a:lnTo>
                  <a:lnTo>
                    <a:pt x="18285968" y="0"/>
                  </a:lnTo>
                  <a:lnTo>
                    <a:pt x="18276443" y="0"/>
                  </a:lnTo>
                  <a:lnTo>
                    <a:pt x="18276443" y="622"/>
                  </a:lnTo>
                  <a:lnTo>
                    <a:pt x="18276443" y="10147"/>
                  </a:lnTo>
                  <a:lnTo>
                    <a:pt x="18276443" y="10278097"/>
                  </a:lnTo>
                  <a:lnTo>
                    <a:pt x="11493" y="10278097"/>
                  </a:lnTo>
                  <a:lnTo>
                    <a:pt x="11493" y="10160"/>
                  </a:lnTo>
                  <a:lnTo>
                    <a:pt x="1968" y="10160"/>
                  </a:lnTo>
                  <a:lnTo>
                    <a:pt x="11493" y="10147"/>
                  </a:lnTo>
                  <a:lnTo>
                    <a:pt x="18276443" y="10147"/>
                  </a:lnTo>
                  <a:lnTo>
                    <a:pt x="18276443" y="622"/>
                  </a:lnTo>
                  <a:lnTo>
                    <a:pt x="11493" y="622"/>
                  </a:lnTo>
                  <a:lnTo>
                    <a:pt x="1968" y="622"/>
                  </a:lnTo>
                  <a:lnTo>
                    <a:pt x="1968" y="0"/>
                  </a:lnTo>
                  <a:lnTo>
                    <a:pt x="0" y="0"/>
                  </a:lnTo>
                  <a:lnTo>
                    <a:pt x="0" y="10160"/>
                  </a:lnTo>
                  <a:lnTo>
                    <a:pt x="0" y="10278110"/>
                  </a:lnTo>
                  <a:lnTo>
                    <a:pt x="0" y="10287000"/>
                  </a:lnTo>
                  <a:lnTo>
                    <a:pt x="1968" y="10287000"/>
                  </a:lnTo>
                  <a:lnTo>
                    <a:pt x="1968" y="10287622"/>
                  </a:lnTo>
                  <a:lnTo>
                    <a:pt x="11493" y="10287622"/>
                  </a:lnTo>
                  <a:lnTo>
                    <a:pt x="18276443" y="10287622"/>
                  </a:lnTo>
                  <a:lnTo>
                    <a:pt x="18276443" y="10287000"/>
                  </a:lnTo>
                  <a:lnTo>
                    <a:pt x="18285968" y="10287000"/>
                  </a:lnTo>
                  <a:lnTo>
                    <a:pt x="18285968" y="10287622"/>
                  </a:lnTo>
                  <a:lnTo>
                    <a:pt x="18288000" y="10287622"/>
                  </a:lnTo>
                  <a:lnTo>
                    <a:pt x="18288000" y="10278110"/>
                  </a:lnTo>
                  <a:lnTo>
                    <a:pt x="18288000" y="10160"/>
                  </a:lnTo>
                  <a:lnTo>
                    <a:pt x="18285968" y="10160"/>
                  </a:lnTo>
                  <a:lnTo>
                    <a:pt x="18288000" y="10147"/>
                  </a:lnTo>
                  <a:lnTo>
                    <a:pt x="18288000" y="622"/>
                  </a:lnTo>
                  <a:close/>
                </a:path>
              </a:pathLst>
            </a:custGeom>
            <a:solidFill>
              <a:srgbClr val="40709C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076535" y="5980865"/>
            <a:ext cx="3854027" cy="495863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pPr algn="ctr">
              <a:lnSpc>
                <a:spcPts val="1910"/>
              </a:lnSpc>
              <a:spcBef>
                <a:spcPts val="67"/>
              </a:spcBef>
            </a:pP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ĐẠI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HỌC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QUỐC</a:t>
            </a:r>
            <a:r>
              <a:rPr sz="1600" spc="-10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GIA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THÀNH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PHỐ</a:t>
            </a:r>
            <a:r>
              <a:rPr sz="1600" spc="-10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HỒ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5B9AD5"/>
                </a:solidFill>
                <a:latin typeface="Calibri"/>
                <a:cs typeface="Calibri"/>
              </a:rPr>
              <a:t>CHÍ</a:t>
            </a:r>
            <a:r>
              <a:rPr sz="1600" spc="-13" dirty="0">
                <a:solidFill>
                  <a:srgbClr val="5B9AD5"/>
                </a:solidFill>
                <a:latin typeface="Calibri"/>
                <a:cs typeface="Calibri"/>
              </a:rPr>
              <a:t> MINH</a:t>
            </a:r>
            <a:endParaRPr sz="1600">
              <a:latin typeface="Calibri"/>
              <a:cs typeface="Calibri"/>
            </a:endParaRPr>
          </a:p>
          <a:p>
            <a:pPr algn="ctr">
              <a:lnSpc>
                <a:spcPts val="1910"/>
              </a:lnSpc>
            </a:pP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TRƯỜNG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ĐẠI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HỌC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dirty="0">
                <a:solidFill>
                  <a:srgbClr val="1F4E78"/>
                </a:solidFill>
                <a:latin typeface="Calibri"/>
                <a:cs typeface="Calibri"/>
              </a:rPr>
              <a:t>BÁCH</a:t>
            </a:r>
            <a:r>
              <a:rPr sz="1600" b="1" spc="-17" dirty="0">
                <a:solidFill>
                  <a:srgbClr val="1F4E78"/>
                </a:solidFill>
                <a:latin typeface="Calibri"/>
                <a:cs typeface="Calibri"/>
              </a:rPr>
              <a:t> </a:t>
            </a:r>
            <a:r>
              <a:rPr sz="1600" b="1" spc="-13" dirty="0">
                <a:solidFill>
                  <a:srgbClr val="1F4E78"/>
                </a:solidFill>
                <a:latin typeface="Calibri"/>
                <a:cs typeface="Calibri"/>
              </a:rPr>
              <a:t>KHOA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73201" y="1365326"/>
            <a:ext cx="9245600" cy="624103"/>
          </a:xfrm>
          <a:prstGeom prst="rect">
            <a:avLst/>
          </a:prstGeom>
        </p:spPr>
        <p:txBody>
          <a:bodyPr vert="horz" wrap="square" lIns="0" tIns="8467" rIns="0" bIns="0" rtlCol="0" anchor="ctr">
            <a:spAutoFit/>
          </a:bodyPr>
          <a:lstStyle/>
          <a:p>
            <a:pPr>
              <a:spcBef>
                <a:spcPts val="67"/>
              </a:spcBef>
            </a:pPr>
            <a:r>
              <a:rPr lang="vi-VN" sz="4000" b="1" dirty="0">
                <a:solidFill>
                  <a:srgbClr val="5B9BD5"/>
                </a:solidFill>
                <a:ea typeface="+mn-ea"/>
                <a:cs typeface="times" panose="02020603050405020304" pitchFamily="18" charset="0"/>
              </a:rPr>
              <a:t>EMBEDDED C PROJECT</a:t>
            </a:r>
            <a:endParaRPr sz="4000" b="1" dirty="0">
              <a:solidFill>
                <a:srgbClr val="5B9BD5"/>
              </a:solidFill>
              <a:ea typeface="+mn-ea"/>
              <a:cs typeface="times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246083" y="221864"/>
            <a:ext cx="3146637" cy="921597"/>
            <a:chOff x="6369124" y="332796"/>
            <a:chExt cx="4719955" cy="138239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66894" y="332796"/>
              <a:ext cx="1521809" cy="138239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69124" y="551823"/>
              <a:ext cx="2860677" cy="1015489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1230046" y="2196326"/>
            <a:ext cx="9846310" cy="2808953"/>
          </a:xfrm>
          <a:prstGeom prst="rect">
            <a:avLst/>
          </a:prstGeom>
        </p:spPr>
        <p:txBody>
          <a:bodyPr vert="horz" wrap="square" lIns="0" tIns="114723" rIns="0" bIns="0" rtlCol="0">
            <a:spAutoFit/>
          </a:bodyPr>
          <a:lstStyle/>
          <a:p>
            <a:pPr algn="ctr"/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Hệ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thống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khiển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Xe Robot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không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dây</a:t>
            </a:r>
            <a:endParaRPr lang="en-US" sz="3500" dirty="0"/>
          </a:p>
          <a:p>
            <a:pPr algn="ctr"/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sử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dụng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Cảm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biến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MPU6050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và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PWM</a:t>
            </a:r>
            <a:endParaRPr lang="en-US" sz="3500" dirty="0"/>
          </a:p>
          <a:p>
            <a:pPr algn="ctr"/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trên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Vi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điều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3500" b="1" dirty="0" err="1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khiển</a:t>
            </a:r>
            <a:r>
              <a:rPr lang="en-US" sz="3500" b="1" dirty="0">
                <a:solidFill>
                  <a:srgbClr val="2332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STM32F103</a:t>
            </a:r>
          </a:p>
          <a:p>
            <a:pPr algn="ctr"/>
            <a:endParaRPr lang="en-US" sz="2667" dirty="0"/>
          </a:p>
          <a:p>
            <a:pPr marR="295078" algn="ctr">
              <a:lnSpc>
                <a:spcPts val="2573"/>
              </a:lnSpc>
            </a:pPr>
            <a:r>
              <a:rPr sz="2233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sz="2233" b="1" dirty="0">
                <a:latin typeface="+mj-lt"/>
                <a:cs typeface="Calibri"/>
              </a:rPr>
              <a:t>:</a:t>
            </a:r>
            <a:r>
              <a:rPr sz="2233" b="1" spc="3" dirty="0">
                <a:latin typeface="+mj-lt"/>
                <a:cs typeface="Calibri"/>
              </a:rPr>
              <a:t> </a:t>
            </a:r>
            <a:r>
              <a:rPr lang="vi-VN" sz="2233" b="1" spc="3" dirty="0" err="1">
                <a:latin typeface="+mj-lt"/>
                <a:cs typeface="times" panose="02020603050405020304" pitchFamily="18" charset="0"/>
              </a:rPr>
              <a:t>Pỏsche</a:t>
            </a:r>
            <a:r>
              <a:rPr lang="vi-VN" sz="2233" b="1" spc="3" dirty="0">
                <a:latin typeface="+mj-lt"/>
                <a:cs typeface="times" panose="02020603050405020304" pitchFamily="18" charset="0"/>
              </a:rPr>
              <a:t> </a:t>
            </a:r>
            <a:r>
              <a:rPr lang="vi-VN" sz="2233" b="1" spc="3" dirty="0" err="1">
                <a:latin typeface="+mj-lt"/>
                <a:cs typeface="times" panose="02020603050405020304" pitchFamily="18" charset="0"/>
              </a:rPr>
              <a:t>with</a:t>
            </a:r>
            <a:r>
              <a:rPr lang="vi-VN" sz="2233" b="1" spc="3" dirty="0">
                <a:latin typeface="+mj-lt"/>
                <a:cs typeface="times" panose="02020603050405020304" pitchFamily="18" charset="0"/>
              </a:rPr>
              <a:t> no </a:t>
            </a:r>
            <a:r>
              <a:rPr lang="vi-VN" sz="2233" b="1" spc="3" dirty="0" err="1">
                <a:latin typeface="+mj-lt"/>
                <a:cs typeface="times" panose="02020603050405020304" pitchFamily="18" charset="0"/>
              </a:rPr>
              <a:t>brakes</a:t>
            </a:r>
            <a:endParaRPr lang="vi-VN" sz="2233" b="1" spc="3" dirty="0">
              <a:latin typeface="+mj-lt"/>
              <a:cs typeface="times" panose="02020603050405020304" pitchFamily="18" charset="0"/>
            </a:endParaRPr>
          </a:p>
          <a:p>
            <a:pPr marR="295078" algn="ctr">
              <a:lnSpc>
                <a:spcPts val="2573"/>
              </a:lnSpc>
            </a:pPr>
            <a:r>
              <a:rPr lang="vi-VN" sz="2233" b="1" spc="3" dirty="0">
                <a:latin typeface="+mj-lt"/>
                <a:cs typeface="times" panose="02020603050405020304" pitchFamily="18" charset="0"/>
              </a:rPr>
              <a:t>Mentor: Võ Quang Vinh</a:t>
            </a:r>
            <a:endParaRPr sz="2233" dirty="0">
              <a:latin typeface="+mj-lt"/>
              <a:cs typeface="times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78D3B5-3EEB-02A2-5DEF-944C031C19AB}"/>
              </a:ext>
            </a:extLst>
          </p:cNvPr>
          <p:cNvSpPr txBox="1"/>
          <p:nvPr/>
        </p:nvSpPr>
        <p:spPr>
          <a:xfrm>
            <a:off x="1918573" y="5212176"/>
            <a:ext cx="835214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b="0" dirty="0">
                <a:solidFill>
                  <a:srgbClr val="64707D"/>
                </a:solidFill>
                <a:latin typeface="+mj-lt"/>
                <a:cs typeface="times" panose="02020603050405020304" pitchFamily="18" charset="0"/>
              </a:rPr>
              <a:t>Mạch Viễn An • Phạm Đỗ Hồng Phúc • Nguyễn Công Tú • Nguyễn Phúc Khải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21175" y="2638881"/>
            <a:ext cx="7074184" cy="185520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r>
              <a:rPr dirty="0"/>
              <a:t>1. </a:t>
            </a:r>
            <a:r>
              <a:rPr dirty="0" err="1"/>
              <a:t>ĐẶT</a:t>
            </a:r>
            <a:r>
              <a:rPr dirty="0"/>
              <a:t> </a:t>
            </a:r>
            <a:r>
              <a:rPr dirty="0" err="1"/>
              <a:t>VẤN</a:t>
            </a:r>
            <a:r>
              <a:rPr dirty="0"/>
              <a:t> </a:t>
            </a:r>
            <a:r>
              <a:rPr dirty="0" err="1"/>
              <a:t>ĐỀ</a:t>
            </a:r>
            <a:r>
              <a:rPr dirty="0"/>
              <a:t> &amp; </a:t>
            </a:r>
            <a:r>
              <a:rPr dirty="0" err="1"/>
              <a:t>MỤC</a:t>
            </a:r>
            <a:r>
              <a:rPr dirty="0"/>
              <a:t> </a:t>
            </a:r>
            <a:r>
              <a:rPr dirty="0" err="1"/>
              <a:t>TIÊU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1. Introduction &amp; Objectives — Đặt vấn đề &amp; Mục tiêu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1" y="969264"/>
            <a:ext cx="8977523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00898" y="1350860"/>
            <a:ext cx="4656841" cy="2796933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Lý do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chọn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bấm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joystick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MPU6050 (MEMS)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thước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rẻ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tương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(HMI)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tức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vi-VN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34260" y="1319619"/>
            <a:ext cx="4656841" cy="2828173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(Tay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): STM32F103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MPU6050 qua I2C,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Pitch/Roll.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dây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Master-Slave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module Bluetooth HC-05 qua UART.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(Xe): STM32F103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UART,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PWM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GPIO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14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Driver TB6612FNG: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DC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chổi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than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0898" y="4561630"/>
            <a:ext cx="9590203" cy="151913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Phạm vi &amp;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endParaRPr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7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nằm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đều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7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Phạm vi Bluetooth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dưới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10m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Fail-safe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mất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defRPr sz="17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Giới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Xe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bởi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dò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đường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AB005-55EB-8842-5253-403E4E3F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EE21D696-50CE-0461-1686-EF7B0AEEEA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9286397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r>
              <a:rPr dirty="0"/>
              <a:t>2. </a:t>
            </a:r>
            <a:r>
              <a:rPr dirty="0" err="1"/>
              <a:t>KIẾN</a:t>
            </a:r>
            <a:r>
              <a:rPr dirty="0"/>
              <a:t> TRÚC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279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5AA67-6B9D-C68A-0760-B65EE8BD3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>
            <a:extLst>
              <a:ext uri="{FF2B5EF4-FFF2-40B4-BE49-F238E27FC236}">
                <a16:creationId xmlns:a16="http://schemas.microsoft.com/office/drawing/2014/main" id="{ABFEA635-5D4D-0C70-C0B8-B83148ED53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E1B3D-60E5-481B-D250-26C6CB8F73AD}"/>
              </a:ext>
            </a:extLst>
          </p:cNvPr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2. System Architecture — Sơ đồ khối tổng thể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3DB5E-C2E4-4B97-7C57-4629AE60A6D0}"/>
              </a:ext>
            </a:extLst>
          </p:cNvPr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D554EF-C487-6CD4-0D23-8EB9C5B15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28" y="901432"/>
            <a:ext cx="10688542" cy="5563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34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6742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2. System Architecture — Luồng xử lý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1" y="969264"/>
            <a:ext cx="8883255" cy="457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06552" y="1695882"/>
            <a:ext cx="1901952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 thập dữ liệu</a:t>
            </a: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Ax, Ay, Az</a:t>
            </a:r>
            <a:b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</a:t>
            </a: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 </a:t>
            </a:r>
            <a:r>
              <a:rPr lang="el-GR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511898" y="2610282"/>
            <a:ext cx="197775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09673" y="1700124"/>
            <a:ext cx="2346961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Tiền xử lý &amp; Calibration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 đổi dữ liệu raw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 chỉnh gyro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 </a:t>
            </a:r>
            <a:r>
              <a:rPr lang="en-US" sz="13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Pitch/Roll offset</a:t>
            </a:r>
            <a:endParaRPr lang="vi-VN" sz="1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056634" y="2577445"/>
            <a:ext cx="201169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73323" y="1700124"/>
            <a:ext cx="2011679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Ước lượng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Pitch/Roll</a:t>
            </a: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7285002" y="2577445"/>
            <a:ext cx="423669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28279" y="1709304"/>
            <a:ext cx="2011679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en-US"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soát</a:t>
            </a:r>
            <a:endParaRPr lang="en-US"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±60° → ±80</a:t>
            </a:r>
            <a:b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±8°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39958" y="2602964"/>
            <a:ext cx="201168" cy="0"/>
          </a:xfrm>
          <a:prstGeom prst="line">
            <a:avLst/>
          </a:prstGeom>
          <a:ln w="29209">
            <a:solidFill>
              <a:srgbClr val="5B9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46325" y="1684842"/>
            <a:ext cx="2121125" cy="18288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 nối</a:t>
            </a:r>
          </a:p>
          <a:p>
            <a:pPr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UART 9600 bps</a:t>
            </a:r>
            <a:b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vi-VN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PWM + GPIO → motor</a:t>
            </a:r>
            <a:endParaRPr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709673" y="4534886"/>
            <a:ext cx="6830286" cy="960120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  <a:p>
            <a:pPr algn="ctr">
              <a:spcBef>
                <a:spcPts val="300"/>
              </a:spcBef>
              <a:defRPr sz="1600">
                <a:solidFill>
                  <a:srgbClr val="212B36"/>
                </a:solidFill>
                <a:latin typeface="Calibri"/>
              </a:defRPr>
            </a:pP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Kalman → Forward control / Turn control → Robot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7EAD6-2FB4-7FB5-7970-39223BDE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CE65390-C7D5-92EC-0090-C94AD588A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10059018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r>
              <a:rPr dirty="0"/>
              <a:t>3. </a:t>
            </a:r>
            <a:r>
              <a:rPr dirty="0" err="1"/>
              <a:t>THUẬT</a:t>
            </a:r>
            <a:r>
              <a:rPr dirty="0"/>
              <a:t> </a:t>
            </a:r>
            <a:r>
              <a:rPr dirty="0" err="1"/>
              <a:t>TOÁN</a:t>
            </a:r>
            <a:r>
              <a:rPr dirty="0"/>
              <a:t> &amp; </a:t>
            </a:r>
            <a:r>
              <a:rPr dirty="0" err="1"/>
              <a:t>TRIỂN</a:t>
            </a:r>
            <a:r>
              <a:rPr dirty="0"/>
              <a:t> KHAI</a:t>
            </a:r>
          </a:p>
        </p:txBody>
      </p:sp>
    </p:spTree>
    <p:extLst>
      <p:ext uri="{BB962C8B-B14F-4D97-AF65-F5344CB8AC3E}">
        <p14:creationId xmlns:p14="http://schemas.microsoft.com/office/powerpoint/2010/main" val="138530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3. Implementation — Hardware &amp; Software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23960" y="6455664"/>
            <a:ext cx="201168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 Project • 08/2026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6400800"/>
            <a:ext cx="2743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5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10642" y="1280160"/>
            <a:ext cx="4785358" cy="324612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STM32F103C8T6 ở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MPU6050: I2C1 (PB6/PB7).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HC-05: UART/USART1, Master–Slave.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TB6612FNG + 4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Li-ion 3.7 V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7.4 V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LM2596/AMS1117.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4389118" cy="32461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STM32 HAL + C.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I2C 100 kHz; UART 9600 bps; PWM 10kHz.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Calibration + atan2f + Kalman Filter.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FSM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Timeout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0.3</a:t>
            </a:r>
            <a:r>
              <a:rPr sz="15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→ PWM =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892040"/>
            <a:ext cx="14630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 nghệ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 HAL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I2C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59" y="528523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SPP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FSM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23959" y="5788152"/>
            <a:ext cx="2057400" cy="38404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3. Implementation — Sơ đồ nguyên lý Khối Phát (Transmitter)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7432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hematic-Transmi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645920"/>
            <a:ext cx="6858000" cy="49651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3. Implementation — Sơ đồ nguyên lý Khối Thu (Receiver)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7432"/>
          </a:xfrm>
          <a:prstGeom prst="rect">
            <a:avLst/>
          </a:prstGeom>
          <a:solidFill>
            <a:srgbClr val="DCDCDC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chematic-Recei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463040"/>
            <a:ext cx="10058400" cy="4809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3. Implementation — Thuật toán lọc Kalman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4920" y="1325880"/>
            <a:ext cx="4739954" cy="38404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sao</a:t>
            </a:r>
            <a:r>
              <a:rPr lang="vi-VN"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sử dụng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Kalman?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Accelerometer: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Gyroscope: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nhưng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drift.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Kalman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fusion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vì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lấy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bình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/>
              <p:cNvSpPr/>
              <p:nvPr/>
            </p:nvSpPr>
            <p:spPr>
              <a:xfrm>
                <a:off x="6096000" y="1325880"/>
                <a:ext cx="4831080" cy="3840480"/>
              </a:xfrm>
              <a:prstGeom prst="roundRect">
                <a:avLst/>
              </a:prstGeom>
              <a:solidFill>
                <a:srgbClr val="F4F8FC"/>
              </a:solidFill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7000" tIns="88900" rIns="127000" bIns="88900" rtlCol="0" anchor="ctr"/>
              <a:lstStyle/>
              <a:p>
                <a:pPr algn="ctr"/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Giải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pháp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&amp; Phương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trình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bộ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lọc</a:t>
                </a:r>
                <a:endParaRPr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▸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Trạng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thái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i="0" dirty="0" err="1">
                        <a:latin typeface="Cambria Math" panose="02040503050406030204" pitchFamily="18" charset="0"/>
                      </a:rPr>
                      <m:t>ᵀ</m:t>
                    </m:r>
                  </m:oMath>
                </a14:m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và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bias con quay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hồi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chuyển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▸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dự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đoán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(Prediction):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14:m>
                  <m:oMathPara xmlns:m="http://schemas.openxmlformats.org/officeDocument/2006/math">
                    <m:oMath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i="0" dirty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𝑒𝑎𝑠𝑢𝑟𝑒𝑑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i="0" dirty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𝑡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▸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Bước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cập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nhật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(Measurement Update):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 err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 err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0" dirty="0" err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với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_acc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từ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accelerometer)</a:t>
                </a:r>
              </a:p>
              <a:p>
                <a:pPr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i="0" dirty="0" err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cập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nhật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góc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i="0" dirty="0" err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0" dirty="0" err="1">
                        <a:latin typeface="Cambria Math" panose="02040503050406030204" pitchFamily="18" charset="0"/>
                      </a:rPr>
                      <m:t>∗</m:t>
                    </m:r>
                    <m:sSub>
                      <m:sSubPr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cập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nhật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bias gyro)</a:t>
                </a:r>
              </a:p>
              <a:p>
                <a:pPr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▸ Tham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số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trong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code: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Q_angle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0.001,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Q_bias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0.003, </a:t>
                </a:r>
                <a:r>
                  <a:rPr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R_measure</a:t>
                </a:r>
                <a:r>
                  <a:rPr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0.03</a:t>
                </a:r>
              </a:p>
            </p:txBody>
          </p:sp>
        </mc:Choice>
        <mc:Fallback>
          <p:sp>
            <p:nvSpPr>
              <p:cNvPr id="8" name="Rounded 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25880"/>
                <a:ext cx="4831080" cy="384048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5B9BD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057400" y="5486400"/>
            <a:ext cx="822960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vi-VN" sz="16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Gyroscope → Prediction  |  Accelerometer → Measurement Update  |  → Estimated Angle</a:t>
            </a:r>
            <a:endParaRPr sz="16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3. Implementation — Calibration &amp; Tần số xử lý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6334" y="1325880"/>
            <a:ext cx="4663440" cy="26974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MPU6050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lúc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Thu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thập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200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mẫu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Tính trung bình vận tốc góc để xác định gyro bias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Pitch/Roll offset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≈ 0°.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2226" y="1325880"/>
            <a:ext cx="4663440" cy="26974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Tần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MPU6050 sampling = 100 Hz.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t>▸ Main loop mục tiêu ≈ 10 ms → ≈ 100 Hz.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66334" y="4526280"/>
            <a:ext cx="3120273" cy="9144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Q_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tin measurement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93527" y="4526280"/>
            <a:ext cx="3053342" cy="9144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Q_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053789" y="4526280"/>
            <a:ext cx="2871877" cy="91440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lang="vi-VN"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R_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tin accelerometer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3. Implementation — Ánh xạ góc &amp; Điều tốc PWM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ounded Rectangle 6"/>
              <p:cNvSpPr/>
              <p:nvPr/>
            </p:nvSpPr>
            <p:spPr>
              <a:xfrm>
                <a:off x="1645920" y="1325880"/>
                <a:ext cx="4754880" cy="3474720"/>
              </a:xfrm>
              <a:prstGeom prst="roundRect">
                <a:avLst/>
              </a:prstGeom>
              <a:solidFill>
                <a:srgbClr val="EFF7FC"/>
              </a:solidFill>
              <a:ln w="127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127000" tIns="88900" rIns="127000" bIns="88900" rtlCol="0" anchor="ctr"/>
              <a:lstStyle/>
              <a:p>
                <a:pPr algn="ctr"/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Mapping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góc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thô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→ control</a:t>
                </a: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▸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Góc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thô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từ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Kalman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được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giới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hạn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: −60° … +60°.</a:t>
                </a: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▸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Giá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trị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điều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khiển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(Output): −80 … +80 (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Giới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hạn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Duty Cycle 80%).</a:t>
                </a: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▸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Dải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chết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(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Deadzone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): −8° &lt; </a:t>
                </a:r>
                <a:r>
                  <a:rPr lang="el-GR" dirty="0">
                    <a:solidFill>
                      <a:schemeClr val="tx1"/>
                    </a:solidFill>
                    <a:latin typeface="+mj-lt"/>
                  </a:rPr>
                  <a:t>θ &lt; +8° → 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control = 0 (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khử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nhiễu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rung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tay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).</a:t>
                </a:r>
              </a:p>
              <a:p>
                <a:pPr>
                  <a:spcAft>
                    <a:spcPts val="200"/>
                  </a:spcAft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▸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Hàm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phi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tuyến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(Exponential Response)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giúp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lái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mượt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ở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góc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vi-VN" dirty="0" err="1">
                    <a:solidFill>
                      <a:schemeClr val="tx1"/>
                    </a:solidFill>
                    <a:latin typeface="+mj-lt"/>
                  </a:rPr>
                  <a:t>nhỏ</a:t>
                </a:r>
                <a:r>
                  <a:rPr lang="vi-VN" dirty="0">
                    <a:solidFill>
                      <a:schemeClr val="tx1"/>
                    </a:solidFill>
                    <a:latin typeface="+mj-lt"/>
                  </a:rPr>
                  <a:t>:</a:t>
                </a:r>
              </a:p>
              <a:p>
                <a:pPr>
                  <a:defRPr sz="1400">
                    <a:solidFill>
                      <a:srgbClr val="212B36"/>
                    </a:solidFill>
                    <a:latin typeface="Calibri"/>
                  </a:defRPr>
                </a:pPr>
                <a14:m>
                  <m:oMathPara xmlns:m="http://schemas.openxmlformats.org/officeDocument/2006/math">
                    <m:oMath>
                      <m:r>
                        <a:rPr lang="vi-VN" i="1" dirty="0" smtClean="0">
                          <a:solidFill>
                            <a:schemeClr val="tx1"/>
                          </a:solidFill>
                          <a:latin typeface="+mj-lt"/>
                        </a:rPr>
                        <m:t>𝑢</m:t>
                      </m:r>
                      <m:r>
                        <a:rPr lang="vi-VN" i="0" dirty="0">
                          <a:solidFill>
                            <a:schemeClr val="tx1"/>
                          </a:solidFill>
                          <a:latin typeface="+mj-lt"/>
                        </a:rPr>
                        <m:t>=</m:t>
                      </m:r>
                      <m:r>
                        <a:rPr lang="vi-VN" i="1" dirty="0">
                          <a:solidFill>
                            <a:schemeClr val="tx1"/>
                          </a:solidFill>
                          <a:latin typeface="+mj-lt"/>
                        </a:rPr>
                        <m:t>𝑠𝑖𝑔𝑛</m:t>
                      </m:r>
                      <m:d>
                        <m:dPr>
                          <m:ctrlPr>
                            <a:rPr lang="ar-AE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</m:ctrlPr>
                        </m:dPr>
                        <m:e>
                          <m:r>
                            <a:rPr lang="ar-AE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𝜃</m:t>
                          </m:r>
                        </m:e>
                      </m:d>
                      <m:r>
                        <a:rPr lang="ar-AE" i="0" dirty="0">
                          <a:solidFill>
                            <a:schemeClr val="tx1"/>
                          </a:solidFill>
                          <a:latin typeface="+mj-lt"/>
                        </a:rPr>
                        <m:t>∗</m:t>
                      </m:r>
                      <m:d>
                        <m:dPr>
                          <m:ctrlPr>
                            <a:rPr lang="ar-AE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ar-AE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ar-AE" i="1" dirty="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</m:ctrlPr>
                                </m:dPr>
                                <m:e>
                                  <m:r>
                                    <a:rPr lang="ar-AE" i="1" dirty="0">
                                      <a:solidFill>
                                        <a:schemeClr val="tx1"/>
                                      </a:solidFill>
                                      <a:latin typeface="+mj-lt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ar-AE" i="0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−8</m:t>
                              </m:r>
                            </m:e>
                          </m:d>
                          <m:r>
                            <a:rPr lang="ar-AE" i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/</m:t>
                          </m:r>
                          <m:d>
                            <m:dPr>
                              <m:ctrlPr>
                                <a:rPr lang="ar-AE" i="0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ar-AE" i="0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60−8</m:t>
                              </m:r>
                            </m:e>
                          </m:d>
                        </m:e>
                      </m:d>
                      <m:r>
                        <a:rPr lang="ar-AE" i="0" dirty="0">
                          <a:solidFill>
                            <a:schemeClr val="tx1"/>
                          </a:solidFill>
                          <a:latin typeface="+mj-lt"/>
                        </a:rPr>
                        <m:t>²∗80</m:t>
                      </m:r>
                      <m:d>
                        <m:dPr>
                          <m:ctrlPr>
                            <a:rPr lang="ar-AE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</m:ctrlPr>
                        </m:dPr>
                        <m:e>
                          <m:r>
                            <a:rPr lang="ar-AE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𝑣</m:t>
                          </m:r>
                          <m:r>
                            <a:rPr lang="vi-VN" i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ớ</m:t>
                          </m:r>
                          <m:r>
                            <a:rPr lang="vi-VN" i="1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𝑖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ar-AE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</m:ctrlPr>
                            </m:dPr>
                            <m:e>
                              <m:r>
                                <a:rPr lang="ar-AE" i="1" dirty="0">
                                  <a:solidFill>
                                    <a:schemeClr val="tx1"/>
                                  </a:solidFill>
                                  <a:latin typeface="+mj-lt"/>
                                </a:rPr>
                                <m:t>𝜃</m:t>
                              </m:r>
                            </m:e>
                          </m:d>
                          <m:r>
                            <a:rPr lang="ar-AE" i="0" dirty="0">
                              <a:solidFill>
                                <a:schemeClr val="tx1"/>
                              </a:solidFill>
                              <a:latin typeface="+mj-lt"/>
                            </a:rPr>
                            <m:t>&gt;8°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1325880"/>
                <a:ext cx="4754880" cy="347472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rgbClr val="5B9BD5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8732520" y="1660302"/>
            <a:ext cx="1143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348273"/>
            <a:ext cx="1143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20" y="3030900"/>
            <a:ext cx="1143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5380" y="3666074"/>
            <a:ext cx="1143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32520" y="4339161"/>
            <a:ext cx="11430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90481" y="5068969"/>
            <a:ext cx="4852542" cy="1508583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dirty="0">
                <a:solidFill>
                  <a:schemeClr val="tx1"/>
                </a:solidFill>
                <a:latin typeface="+mj-lt"/>
              </a:rPr>
              <a:t>PWM &amp; </a:t>
            </a:r>
            <a:r>
              <a:rPr dirty="0" err="1">
                <a:solidFill>
                  <a:schemeClr val="tx1"/>
                </a:solidFill>
                <a:latin typeface="+mj-lt"/>
              </a:rPr>
              <a:t>Lái</a:t>
            </a:r>
            <a:r>
              <a:rPr dirty="0">
                <a:solidFill>
                  <a:schemeClr val="tx1"/>
                </a:solidFill>
                <a:latin typeface="+mj-lt"/>
              </a:rPr>
              <a:t> vi </a:t>
            </a:r>
            <a:r>
              <a:rPr dirty="0" err="1">
                <a:solidFill>
                  <a:schemeClr val="tx1"/>
                </a:solidFill>
                <a:latin typeface="+mj-lt"/>
              </a:rPr>
              <a:t>sai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động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cơ</a:t>
            </a:r>
            <a:endParaRPr sz="17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+mj-lt"/>
              </a:rPr>
              <a:t>▸ </a:t>
            </a:r>
            <a:r>
              <a:rPr dirty="0" err="1">
                <a:solidFill>
                  <a:schemeClr val="tx1"/>
                </a:solidFill>
                <a:latin typeface="+mj-lt"/>
              </a:rPr>
              <a:t>Gửi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liên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tục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chuỗi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ký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tự</a:t>
            </a:r>
            <a:r>
              <a:rPr dirty="0">
                <a:solidFill>
                  <a:schemeClr val="tx1"/>
                </a:solidFill>
                <a:latin typeface="+mj-lt"/>
              </a:rPr>
              <a:t> "F:%d T:%d\n" qua Bluetooth.</a:t>
            </a:r>
            <a:endParaRPr lang="vi-VN" sz="15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+mj-lt"/>
              </a:rPr>
              <a:t>▸ </a:t>
            </a:r>
            <a:r>
              <a:rPr dirty="0" err="1">
                <a:solidFill>
                  <a:schemeClr val="tx1"/>
                </a:solidFill>
                <a:latin typeface="+mj-lt"/>
              </a:rPr>
              <a:t>Lái</a:t>
            </a:r>
            <a:r>
              <a:rPr dirty="0">
                <a:solidFill>
                  <a:schemeClr val="tx1"/>
                </a:solidFill>
                <a:latin typeface="+mj-lt"/>
              </a:rPr>
              <a:t> vi </a:t>
            </a:r>
            <a:r>
              <a:rPr dirty="0" err="1">
                <a:solidFill>
                  <a:schemeClr val="tx1"/>
                </a:solidFill>
                <a:latin typeface="+mj-lt"/>
              </a:rPr>
              <a:t>sai</a:t>
            </a:r>
            <a:r>
              <a:rPr dirty="0">
                <a:solidFill>
                  <a:schemeClr val="tx1"/>
                </a:solidFill>
                <a:latin typeface="+mj-lt"/>
              </a:rPr>
              <a:t> (Differential Steering) </a:t>
            </a:r>
            <a:r>
              <a:rPr dirty="0" err="1">
                <a:solidFill>
                  <a:schemeClr val="tx1"/>
                </a:solidFill>
                <a:latin typeface="+mj-lt"/>
              </a:rPr>
              <a:t>tại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Khối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thu</a:t>
            </a:r>
            <a:r>
              <a:rPr dirty="0">
                <a:solidFill>
                  <a:schemeClr val="tx1"/>
                </a:solidFill>
                <a:latin typeface="+mj-lt"/>
              </a:rPr>
              <a:t>:</a:t>
            </a:r>
            <a:endParaRPr lang="vi-VN" sz="15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+mj-lt"/>
              </a:rPr>
              <a:t>  • </a:t>
            </a:r>
            <a:r>
              <a:rPr dirty="0" err="1">
                <a:solidFill>
                  <a:schemeClr val="tx1"/>
                </a:solidFill>
                <a:latin typeface="+mj-lt"/>
              </a:rPr>
              <a:t>left_speed</a:t>
            </a:r>
            <a:r>
              <a:rPr dirty="0">
                <a:solidFill>
                  <a:schemeClr val="tx1"/>
                </a:solidFill>
                <a:latin typeface="+mj-lt"/>
              </a:rPr>
              <a:t> = clamp(forward + turn)</a:t>
            </a:r>
            <a:endParaRPr lang="vi-VN" sz="1500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+mj-lt"/>
              </a:rPr>
              <a:t>  • </a:t>
            </a:r>
            <a:r>
              <a:rPr dirty="0" err="1">
                <a:solidFill>
                  <a:schemeClr val="tx1"/>
                </a:solidFill>
                <a:latin typeface="+mj-lt"/>
              </a:rPr>
              <a:t>right_speed</a:t>
            </a:r>
            <a:r>
              <a:rPr dirty="0">
                <a:solidFill>
                  <a:schemeClr val="tx1"/>
                </a:solidFill>
                <a:latin typeface="+mj-lt"/>
              </a:rPr>
              <a:t> = clamp(forward - turn)</a:t>
            </a:r>
          </a:p>
          <a:p>
            <a:pPr>
              <a:defRPr sz="11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+mj-lt"/>
              </a:rPr>
              <a:t>▸ </a:t>
            </a:r>
            <a:r>
              <a:rPr dirty="0" err="1">
                <a:solidFill>
                  <a:schemeClr val="tx1"/>
                </a:solidFill>
                <a:latin typeface="+mj-lt"/>
              </a:rPr>
              <a:t>Hướng</a:t>
            </a:r>
            <a:r>
              <a:rPr dirty="0">
                <a:solidFill>
                  <a:schemeClr val="tx1"/>
                </a:solidFill>
                <a:latin typeface="+mj-lt"/>
              </a:rPr>
              <a:t> quay (GPIO) </a:t>
            </a:r>
            <a:r>
              <a:rPr dirty="0" err="1">
                <a:solidFill>
                  <a:schemeClr val="tx1"/>
                </a:solidFill>
                <a:latin typeface="+mj-lt"/>
              </a:rPr>
              <a:t>quyết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định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bởi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dấu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của</a:t>
            </a:r>
            <a:r>
              <a:rPr dirty="0">
                <a:solidFill>
                  <a:schemeClr val="tx1"/>
                </a:solidFill>
                <a:latin typeface="+mj-lt"/>
              </a:rPr>
              <a:t> speed.</a:t>
            </a:r>
          </a:p>
          <a:p>
            <a:pPr>
              <a:defRPr sz="1100">
                <a:solidFill>
                  <a:srgbClr val="212B36"/>
                </a:solidFill>
                <a:latin typeface="Calibri"/>
              </a:defRPr>
            </a:pPr>
            <a:r>
              <a:rPr dirty="0">
                <a:solidFill>
                  <a:schemeClr val="tx1"/>
                </a:solidFill>
                <a:latin typeface="+mj-lt"/>
              </a:rPr>
              <a:t>▸ </a:t>
            </a:r>
            <a:r>
              <a:rPr dirty="0" err="1">
                <a:solidFill>
                  <a:schemeClr val="tx1"/>
                </a:solidFill>
                <a:latin typeface="+mj-lt"/>
              </a:rPr>
              <a:t>Tốc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độ</a:t>
            </a:r>
            <a:r>
              <a:rPr dirty="0">
                <a:solidFill>
                  <a:schemeClr val="tx1"/>
                </a:solidFill>
                <a:latin typeface="+mj-lt"/>
              </a:rPr>
              <a:t> (PWM) </a:t>
            </a:r>
            <a:r>
              <a:rPr dirty="0" err="1">
                <a:solidFill>
                  <a:schemeClr val="tx1"/>
                </a:solidFill>
                <a:latin typeface="+mj-lt"/>
              </a:rPr>
              <a:t>quyết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định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bởi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trị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tuyệt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đối</a:t>
            </a:r>
            <a:r>
              <a:rPr dirty="0">
                <a:solidFill>
                  <a:schemeClr val="tx1"/>
                </a:solidFill>
                <a:latin typeface="+mj-lt"/>
              </a:rPr>
              <a:t> </a:t>
            </a:r>
            <a:r>
              <a:rPr dirty="0" err="1">
                <a:solidFill>
                  <a:schemeClr val="tx1"/>
                </a:solidFill>
                <a:latin typeface="+mj-lt"/>
              </a:rPr>
              <a:t>của</a:t>
            </a:r>
            <a:r>
              <a:rPr dirty="0">
                <a:solidFill>
                  <a:schemeClr val="tx1"/>
                </a:solidFill>
                <a:latin typeface="+mj-lt"/>
              </a:rPr>
              <a:t> speed.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46ED6467-A894-1261-AD2D-3E9430CF1527}"/>
              </a:ext>
            </a:extLst>
          </p:cNvPr>
          <p:cNvSpPr/>
          <p:nvPr/>
        </p:nvSpPr>
        <p:spPr>
          <a:xfrm>
            <a:off x="6675120" y="1554480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19F03A42-F642-3B7F-91B9-A94C5AB0B749}"/>
              </a:ext>
            </a:extLst>
          </p:cNvPr>
          <p:cNvSpPr/>
          <p:nvPr/>
        </p:nvSpPr>
        <p:spPr>
          <a:xfrm>
            <a:off x="6675120" y="2221991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−22.5°</a:t>
            </a:r>
          </a:p>
        </p:txBody>
      </p:sp>
      <p:sp>
        <p:nvSpPr>
          <p:cNvPr id="22" name="Rounded Rectangle 11">
            <a:extLst>
              <a:ext uri="{FF2B5EF4-FFF2-40B4-BE49-F238E27FC236}">
                <a16:creationId xmlns:a16="http://schemas.microsoft.com/office/drawing/2014/main" id="{83FC6A9D-73FF-E998-01BF-464ACAE9ED2C}"/>
              </a:ext>
            </a:extLst>
          </p:cNvPr>
          <p:cNvSpPr/>
          <p:nvPr/>
        </p:nvSpPr>
        <p:spPr>
          <a:xfrm>
            <a:off x="6675120" y="2889504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0°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9C023C1B-F62D-D915-FD30-24789E55F74F}"/>
              </a:ext>
            </a:extLst>
          </p:cNvPr>
          <p:cNvSpPr/>
          <p:nvPr/>
        </p:nvSpPr>
        <p:spPr>
          <a:xfrm>
            <a:off x="6675120" y="3557015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+22.5°</a:t>
            </a:r>
          </a:p>
        </p:txBody>
      </p:sp>
      <p:sp>
        <p:nvSpPr>
          <p:cNvPr id="26" name="Rounded Rectangle 15">
            <a:extLst>
              <a:ext uri="{FF2B5EF4-FFF2-40B4-BE49-F238E27FC236}">
                <a16:creationId xmlns:a16="http://schemas.microsoft.com/office/drawing/2014/main" id="{ABC0BA81-2DE9-88AD-FFA5-699DA0F67047}"/>
              </a:ext>
            </a:extLst>
          </p:cNvPr>
          <p:cNvSpPr/>
          <p:nvPr/>
        </p:nvSpPr>
        <p:spPr>
          <a:xfrm>
            <a:off x="6675120" y="4224528"/>
            <a:ext cx="1874519" cy="47548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</a:t>
            </a:r>
            <a:r>
              <a:rPr sz="1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3. Implementation — Sơ đồ Máy trạng thái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Sơ đồ FSM Khối Phát (Transmitter)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Sơ đồ FSM Khối Thu (Receiver)</a:t>
            </a:r>
          </a:p>
        </p:txBody>
      </p:sp>
      <p:pic>
        <p:nvPicPr>
          <p:cNvPr id="6" name="Picture 5" descr="Transmitter_FSP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45920"/>
            <a:ext cx="5029200" cy="3383280"/>
          </a:xfrm>
          <a:prstGeom prst="rect">
            <a:avLst/>
          </a:prstGeom>
        </p:spPr>
      </p:pic>
      <p:pic>
        <p:nvPicPr>
          <p:cNvPr id="7" name="Picture 6" descr="Receiver_FSP.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11680"/>
            <a:ext cx="530352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427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83765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3. Implementation — Lưu đồ giải thuật chi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Lưu đồ giải thuật - Khối Phát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188720"/>
            <a:ext cx="3383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0000"/>
                </a:solidFill>
              </a:defRPr>
            </a:pPr>
            <a:r>
              <a:t>Lưu đồ giải thuật - Khối Thu</a:t>
            </a:r>
          </a:p>
        </p:txBody>
      </p:sp>
      <p:pic>
        <p:nvPicPr>
          <p:cNvPr id="6" name="Picture 5" descr="Transmitter_Flowchart.draw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645920"/>
            <a:ext cx="3749039" cy="4389120"/>
          </a:xfrm>
          <a:prstGeom prst="rect">
            <a:avLst/>
          </a:prstGeom>
        </p:spPr>
      </p:pic>
      <p:pic>
        <p:nvPicPr>
          <p:cNvPr id="7" name="Picture 6" descr="Receiver_Flowchart.draw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645920"/>
            <a:ext cx="3383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ED241-E386-24B1-4868-775273EA1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B8C631A0-8E85-A9E6-1350-752DDA94A8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9446653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r>
              <a:rPr dirty="0"/>
              <a:t>4. </a:t>
            </a:r>
            <a:r>
              <a:rPr dirty="0" err="1"/>
              <a:t>THỬ</a:t>
            </a:r>
            <a:r>
              <a:rPr dirty="0"/>
              <a:t> </a:t>
            </a:r>
            <a:r>
              <a:rPr dirty="0" err="1"/>
              <a:t>NGHIỆM</a:t>
            </a:r>
            <a:r>
              <a:rPr dirty="0"/>
              <a:t> &amp;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1918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4. Experiment &amp; Results — Kịch bản thử nghiệm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4919" y="1332007"/>
            <a:ext cx="4909637" cy="278892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MPU6050 + HC-05 Master.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Xe: </a:t>
            </a:r>
            <a:r>
              <a:rPr lang="vi-V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STM32F103C8T6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HC-05 Slave + TB6612FNG + 4 DC Motor.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mặt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chướng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10226" y="1325880"/>
            <a:ext cx="4425413" cy="278892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lùi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Thả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0° →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 → fail-safe.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4617720"/>
            <a:ext cx="850392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MPU6050 100 Hz   |   Loop ≈ 100 Hz   |   UART 9600 bps   |   PWM 10 kHz   |   Timeout 300 ms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4. Experiment &amp; Results — Tiêu chí đánh giá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828800" y="1464696"/>
            <a:ext cx="8577072" cy="786384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 / 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Kalman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measurement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642426"/>
            <a:ext cx="8577072" cy="78638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Gyroscope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799" y="3820156"/>
            <a:ext cx="8644379" cy="786384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lùi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rẽ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997886"/>
            <a:ext cx="8644378" cy="786384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An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200">
                <a:solidFill>
                  <a:srgbClr val="212B36"/>
                </a:solidFill>
                <a:latin typeface="Calibri"/>
              </a:defRPr>
            </a:pPr>
            <a:r>
              <a:t>Mất gói &gt; 300 ms → xe dừng.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4. Experiment &amp; Results — Kết quả &amp; So sánh bộ lọc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463040" y="1325880"/>
            <a:ext cx="3246120" cy="31546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chiếu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25880"/>
            <a:ext cx="3063240" cy="315468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Gyroscope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đơn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lẻ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lũy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bias → drift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063240" cy="315468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Kalman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+ measurement.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Cân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800600"/>
            <a:ext cx="8869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Pitch/Roll • mapping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fail-safe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94458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40479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drift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6500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mượt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732521" y="5532120"/>
            <a:ext cx="1874519" cy="43891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EB213-00D8-34DA-6AE9-E36DE1D6E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DFEC254D-C2CE-3217-BE86-57BFDE6AB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1174" y="2638881"/>
            <a:ext cx="10232754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r>
              <a:rPr dirty="0"/>
              <a:t>5. DEMO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&amp; </a:t>
            </a:r>
            <a:r>
              <a:rPr dirty="0" err="1"/>
              <a:t>ĐÁNH</a:t>
            </a:r>
            <a:r>
              <a:rPr dirty="0"/>
              <a:t> </a:t>
            </a:r>
            <a:r>
              <a:rPr dirty="0" err="1"/>
              <a:t>GIÁ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01229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5. Real Demo — Các bước tiến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265077" y="1577340"/>
            <a:ext cx="2797876" cy="120700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75631"/>
            <a:ext cx="2720576" cy="12070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7383" y="1577340"/>
            <a:ext cx="2720576" cy="120700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trước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FORWARD / BACKWARD.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15" y="3429000"/>
            <a:ext cx="2797876" cy="120700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LEFT / RIGHT.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17540" y="3437230"/>
            <a:ext cx="2720576" cy="1207008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Bước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</a:t>
            </a: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 →</a:t>
            </a:r>
            <a:endParaRPr lang="vi-V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 → STOP.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65077" y="5074920"/>
            <a:ext cx="9584547" cy="804672"/>
          </a:xfrm>
          <a:prstGeom prst="roundRect">
            <a:avLst/>
          </a:prstGeom>
          <a:solidFill>
            <a:srgbClr val="F9FBFD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5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endParaRPr sz="15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defRPr sz="11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Pitch/Roll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hồi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đúng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fail-safe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5. Demo — Đánh giá ưu điểm &amp; Hạn chế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00200" y="1384916"/>
            <a:ext cx="4709160" cy="2746701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Giao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rõ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ràng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sensing → estimation → wireless → actuation.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calibration, Kalman,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deadzone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phù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1325880"/>
            <a:ext cx="4297680" cy="2805738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Phạm vi Bluetooth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tầm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phẳng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Chưa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75409" y="4540420"/>
            <a:ext cx="2139885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sz="17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sz="17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35479" y="4932522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BLE / Web Bluetooth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4932522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IMU </a:t>
            </a:r>
            <a:r>
              <a:rPr sz="12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tốt</a:t>
            </a:r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hơn</a:t>
            </a:r>
            <a:endParaRPr sz="12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935479" y="5628265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Obstacle avoidance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5590890"/>
            <a:ext cx="4160520" cy="36576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12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Logging &amp; benchmark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95F8-8169-3B51-3E4E-B41A6033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1BB441E4-31D7-CDC2-A4BC-14DCF23079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5263" y="2830579"/>
            <a:ext cx="11421473" cy="931879"/>
          </a:xfrm>
          <a:prstGeom prst="rect">
            <a:avLst/>
          </a:prstGeom>
        </p:spPr>
        <p:txBody>
          <a:bodyPr vert="horz" wrap="square" lIns="0" tIns="8467" rIns="0" bIns="0" rtlCol="0">
            <a:spAutoFit/>
          </a:bodyPr>
          <a:lstStyle/>
          <a:p>
            <a:r>
              <a:rPr dirty="0"/>
              <a:t>6. </a:t>
            </a:r>
            <a:r>
              <a:rPr dirty="0" err="1"/>
              <a:t>KẾT</a:t>
            </a:r>
            <a:r>
              <a:rPr dirty="0"/>
              <a:t> LUẬN &amp; </a:t>
            </a:r>
            <a:r>
              <a:rPr dirty="0" err="1"/>
              <a:t>HƯỚNG</a:t>
            </a:r>
            <a:r>
              <a:rPr dirty="0"/>
              <a:t> </a:t>
            </a:r>
            <a:r>
              <a:rPr dirty="0" err="1"/>
              <a:t>PHÁT</a:t>
            </a:r>
            <a:r>
              <a:rPr dirty="0"/>
              <a:t> </a:t>
            </a:r>
            <a:r>
              <a:rPr dirty="0" err="1"/>
              <a:t>TRIỂN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531692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27632" y="393192"/>
            <a:ext cx="9418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t>6. Kết luận &amp;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1627632" y="969264"/>
            <a:ext cx="8778240" cy="25603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307592" y="1350861"/>
            <a:ext cx="4709160" cy="3291840"/>
          </a:xfrm>
          <a:prstGeom prst="roundRect">
            <a:avLst/>
          </a:prstGeom>
          <a:solidFill>
            <a:srgbClr val="EFF7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MPU6050 + Kalman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Pitch/Roll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HC-05/UART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STM32 + TB6612 + PWM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FSM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fail-safe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prototype.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5248" y="1350861"/>
            <a:ext cx="4709160" cy="3291840"/>
          </a:xfrm>
          <a:prstGeom prst="roundRect">
            <a:avLst/>
          </a:prstGeom>
          <a:solidFill>
            <a:srgbClr val="F4F8FC"/>
          </a:solidFill>
          <a:ln w="1270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88900" rIns="127000" bIns="88900" rtlCol="0" anchor="ctr"/>
          <a:lstStyle/>
          <a:p>
            <a:pPr algn="ctr"/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sz="2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endParaRPr sz="2000" b="1" dirty="0">
              <a:solidFill>
                <a:srgbClr val="1F4E7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benchmark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latency, packet loss,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Thay HC-05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BLE / Web Bluetooth.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sung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00"/>
              </a:spcAft>
              <a:defRPr sz="1400">
                <a:solidFill>
                  <a:srgbClr val="212B36"/>
                </a:solidFill>
                <a:latin typeface="Calibri"/>
              </a:defRPr>
            </a:pP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▸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lọc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control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257800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biến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quyết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 err="1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robot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0" y="2091569"/>
            <a:ext cx="484632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0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3154680"/>
            <a:ext cx="63093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thầy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210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anh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lắng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100" b="0" dirty="0" err="1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nghe</a:t>
            </a:r>
            <a:r>
              <a:rPr sz="2100" b="0" dirty="0">
                <a:solidFill>
                  <a:srgbClr val="212B3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3750602"/>
            <a:ext cx="6126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304481"/>
            <a:ext cx="667512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6470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HCMUT • Embedded C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1858</Words>
  <Application>Microsoft Office PowerPoint</Application>
  <PresentationFormat>Widescreen</PresentationFormat>
  <Paragraphs>219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Cambria Math</vt:lpstr>
      <vt:lpstr>times</vt:lpstr>
      <vt:lpstr>Times New Roman</vt:lpstr>
      <vt:lpstr>Office Theme</vt:lpstr>
      <vt:lpstr>1_Office Theme</vt:lpstr>
      <vt:lpstr>EMBEDDED C PROJECT</vt:lpstr>
      <vt:lpstr>1. ĐẶT VẤN ĐỀ &amp; MỤC TIÊU</vt:lpstr>
      <vt:lpstr>PowerPoint Presentation</vt:lpstr>
      <vt:lpstr>2. KIẾN TRÚC HỆ THỐNG</vt:lpstr>
      <vt:lpstr>PowerPoint Presentation</vt:lpstr>
      <vt:lpstr>PowerPoint Presentation</vt:lpstr>
      <vt:lpstr>3. THUẬT TOÁN &amp; TRIỂN KHAI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THỬ NGHIỆM &amp; KẾT QUẢ</vt:lpstr>
      <vt:lpstr>PowerPoint Presentation</vt:lpstr>
      <vt:lpstr>PowerPoint Presentation</vt:lpstr>
      <vt:lpstr>PowerPoint Presentation</vt:lpstr>
      <vt:lpstr>5. DEMO THỰC TẾ &amp; ĐÁNH GIÁ</vt:lpstr>
      <vt:lpstr>PowerPoint Presentation</vt:lpstr>
      <vt:lpstr>PowerPoint Presentation</vt:lpstr>
      <vt:lpstr>6. KẾT LUẬN &amp; HƯỚNG PHÁT TRIỂN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MẠCH VIỄN AN</cp:lastModifiedBy>
  <cp:revision>43</cp:revision>
  <dcterms:created xsi:type="dcterms:W3CDTF">2013-01-27T09:14:16Z</dcterms:created>
  <dcterms:modified xsi:type="dcterms:W3CDTF">2026-08-27T16:23:22Z</dcterms:modified>
  <cp:category/>
</cp:coreProperties>
</file>