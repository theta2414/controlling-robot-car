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0"/>
  </p:notesMasterIdLst>
  <p:sldIdLst>
    <p:sldId id="274" r:id="rId3"/>
    <p:sldId id="275" r:id="rId4"/>
    <p:sldId id="257" r:id="rId5"/>
    <p:sldId id="276" r:id="rId6"/>
    <p:sldId id="258" r:id="rId7"/>
    <p:sldId id="277" r:id="rId8"/>
    <p:sldId id="259" r:id="rId9"/>
    <p:sldId id="278" r:id="rId10"/>
    <p:sldId id="260" r:id="rId11"/>
    <p:sldId id="279" r:id="rId12"/>
    <p:sldId id="261" r:id="rId13"/>
    <p:sldId id="280" r:id="rId14"/>
    <p:sldId id="262" r:id="rId15"/>
    <p:sldId id="263" r:id="rId16"/>
    <p:sldId id="264" r:id="rId17"/>
    <p:sldId id="265" r:id="rId18"/>
    <p:sldId id="266" r:id="rId19"/>
    <p:sldId id="281" r:id="rId20"/>
    <p:sldId id="267" r:id="rId21"/>
    <p:sldId id="268" r:id="rId22"/>
    <p:sldId id="269" r:id="rId23"/>
    <p:sldId id="282" r:id="rId24"/>
    <p:sldId id="270" r:id="rId25"/>
    <p:sldId id="271" r:id="rId26"/>
    <p:sldId id="283" r:id="rId27"/>
    <p:sldId id="272" r:id="rId28"/>
    <p:sldId id="27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7BB98-F82A-4C83-B55E-2344AB225101}" type="datetimeFigureOut">
              <a:rPr lang="vi-VN" smtClean="0"/>
              <a:t>23/08/2026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225FE-60F3-4C7C-9729-63857A7786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84847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1BA2FE-5432-46C7-91C3-4E76B949512A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23607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225FE-60F3-4C7C-9729-63857A7786D6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010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1" y="3275011"/>
            <a:ext cx="11664949" cy="1981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4778" y="611738"/>
            <a:ext cx="3278293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28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33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843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0361" y="2728123"/>
            <a:ext cx="10611276" cy="923330"/>
          </a:xfrm>
        </p:spPr>
        <p:txBody>
          <a:bodyPr lIns="0" tIns="0" rIns="0" bIns="0"/>
          <a:lstStyle>
            <a:lvl1pPr>
              <a:defRPr sz="600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190" y="1375975"/>
            <a:ext cx="11037570" cy="328231"/>
          </a:xfrm>
        </p:spPr>
        <p:txBody>
          <a:bodyPr lIns="0" tIns="0" rIns="0" bIns="0"/>
          <a:lstStyle>
            <a:lvl1pPr>
              <a:defRPr sz="2133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0065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0361" y="2728123"/>
            <a:ext cx="10611276" cy="923330"/>
          </a:xfrm>
        </p:spPr>
        <p:txBody>
          <a:bodyPr lIns="0" tIns="0" rIns="0" bIns="0"/>
          <a:lstStyle>
            <a:lvl1pPr>
              <a:defRPr sz="600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9207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0361" y="2728123"/>
            <a:ext cx="10611276" cy="923330"/>
          </a:xfrm>
        </p:spPr>
        <p:txBody>
          <a:bodyPr lIns="0" tIns="0" rIns="0" bIns="0"/>
          <a:lstStyle>
            <a:lvl1pPr>
              <a:defRPr sz="600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8761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525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0361" y="2728123"/>
            <a:ext cx="10611276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190" y="1375975"/>
            <a:ext cx="110375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62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04815">
        <a:defRPr>
          <a:latin typeface="+mn-lt"/>
          <a:ea typeface="+mn-ea"/>
          <a:cs typeface="+mn-cs"/>
        </a:defRPr>
      </a:lvl2pPr>
      <a:lvl3pPr marL="609630">
        <a:defRPr>
          <a:latin typeface="+mn-lt"/>
          <a:ea typeface="+mn-ea"/>
          <a:cs typeface="+mn-cs"/>
        </a:defRPr>
      </a:lvl3pPr>
      <a:lvl4pPr marL="914446">
        <a:defRPr>
          <a:latin typeface="+mn-lt"/>
          <a:ea typeface="+mn-ea"/>
          <a:cs typeface="+mn-cs"/>
        </a:defRPr>
      </a:lvl4pPr>
      <a:lvl5pPr marL="1219261">
        <a:defRPr>
          <a:latin typeface="+mn-lt"/>
          <a:ea typeface="+mn-ea"/>
          <a:cs typeface="+mn-cs"/>
        </a:defRPr>
      </a:lvl5pPr>
      <a:lvl6pPr marL="1524076">
        <a:defRPr>
          <a:latin typeface="+mn-lt"/>
          <a:ea typeface="+mn-ea"/>
          <a:cs typeface="+mn-cs"/>
        </a:defRPr>
      </a:lvl6pPr>
      <a:lvl7pPr marL="1828891">
        <a:defRPr>
          <a:latin typeface="+mn-lt"/>
          <a:ea typeface="+mn-ea"/>
          <a:cs typeface="+mn-cs"/>
        </a:defRPr>
      </a:lvl7pPr>
      <a:lvl8pPr marL="2133707">
        <a:defRPr>
          <a:latin typeface="+mn-lt"/>
          <a:ea typeface="+mn-ea"/>
          <a:cs typeface="+mn-cs"/>
        </a:defRPr>
      </a:lvl8pPr>
      <a:lvl9pPr marL="243852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04815">
        <a:defRPr>
          <a:latin typeface="+mn-lt"/>
          <a:ea typeface="+mn-ea"/>
          <a:cs typeface="+mn-cs"/>
        </a:defRPr>
      </a:lvl2pPr>
      <a:lvl3pPr marL="609630">
        <a:defRPr>
          <a:latin typeface="+mn-lt"/>
          <a:ea typeface="+mn-ea"/>
          <a:cs typeface="+mn-cs"/>
        </a:defRPr>
      </a:lvl3pPr>
      <a:lvl4pPr marL="914446">
        <a:defRPr>
          <a:latin typeface="+mn-lt"/>
          <a:ea typeface="+mn-ea"/>
          <a:cs typeface="+mn-cs"/>
        </a:defRPr>
      </a:lvl4pPr>
      <a:lvl5pPr marL="1219261">
        <a:defRPr>
          <a:latin typeface="+mn-lt"/>
          <a:ea typeface="+mn-ea"/>
          <a:cs typeface="+mn-cs"/>
        </a:defRPr>
      </a:lvl5pPr>
      <a:lvl6pPr marL="1524076">
        <a:defRPr>
          <a:latin typeface="+mn-lt"/>
          <a:ea typeface="+mn-ea"/>
          <a:cs typeface="+mn-cs"/>
        </a:defRPr>
      </a:lvl6pPr>
      <a:lvl7pPr marL="1828891">
        <a:defRPr>
          <a:latin typeface="+mn-lt"/>
          <a:ea typeface="+mn-ea"/>
          <a:cs typeface="+mn-cs"/>
        </a:defRPr>
      </a:lvl7pPr>
      <a:lvl8pPr marL="2133707">
        <a:defRPr>
          <a:latin typeface="+mn-lt"/>
          <a:ea typeface="+mn-ea"/>
          <a:cs typeface="+mn-cs"/>
        </a:defRPr>
      </a:lvl8pPr>
      <a:lvl9pPr marL="243852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1352" y="-13117"/>
            <a:ext cx="12193351" cy="6871117"/>
            <a:chOff x="-2026" y="-623"/>
            <a:chExt cx="18290026" cy="10306675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2026" y="-74"/>
              <a:ext cx="18287999" cy="1030612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-623"/>
              <a:ext cx="18288000" cy="10287635"/>
            </a:xfrm>
            <a:custGeom>
              <a:avLst/>
              <a:gdLst/>
              <a:ahLst/>
              <a:cxnLst/>
              <a:rect l="l" t="t" r="r" b="b"/>
              <a:pathLst>
                <a:path w="18288000" h="10287635">
                  <a:moveTo>
                    <a:pt x="18288000" y="622"/>
                  </a:moveTo>
                  <a:lnTo>
                    <a:pt x="18285968" y="622"/>
                  </a:lnTo>
                  <a:lnTo>
                    <a:pt x="18285968" y="0"/>
                  </a:lnTo>
                  <a:lnTo>
                    <a:pt x="18276443" y="0"/>
                  </a:lnTo>
                  <a:lnTo>
                    <a:pt x="18276443" y="622"/>
                  </a:lnTo>
                  <a:lnTo>
                    <a:pt x="18276443" y="10147"/>
                  </a:lnTo>
                  <a:lnTo>
                    <a:pt x="18276443" y="10278097"/>
                  </a:lnTo>
                  <a:lnTo>
                    <a:pt x="11493" y="10278097"/>
                  </a:lnTo>
                  <a:lnTo>
                    <a:pt x="11493" y="10160"/>
                  </a:lnTo>
                  <a:lnTo>
                    <a:pt x="1968" y="10160"/>
                  </a:lnTo>
                  <a:lnTo>
                    <a:pt x="11493" y="10147"/>
                  </a:lnTo>
                  <a:lnTo>
                    <a:pt x="18276443" y="10147"/>
                  </a:lnTo>
                  <a:lnTo>
                    <a:pt x="18276443" y="622"/>
                  </a:lnTo>
                  <a:lnTo>
                    <a:pt x="11493" y="622"/>
                  </a:lnTo>
                  <a:lnTo>
                    <a:pt x="1968" y="622"/>
                  </a:lnTo>
                  <a:lnTo>
                    <a:pt x="1968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0278110"/>
                  </a:lnTo>
                  <a:lnTo>
                    <a:pt x="0" y="10287000"/>
                  </a:lnTo>
                  <a:lnTo>
                    <a:pt x="1968" y="10287000"/>
                  </a:lnTo>
                  <a:lnTo>
                    <a:pt x="1968" y="10287622"/>
                  </a:lnTo>
                  <a:lnTo>
                    <a:pt x="11493" y="10287622"/>
                  </a:lnTo>
                  <a:lnTo>
                    <a:pt x="18276443" y="10287622"/>
                  </a:lnTo>
                  <a:lnTo>
                    <a:pt x="18276443" y="10287000"/>
                  </a:lnTo>
                  <a:lnTo>
                    <a:pt x="18285968" y="10287000"/>
                  </a:lnTo>
                  <a:lnTo>
                    <a:pt x="18285968" y="10287622"/>
                  </a:lnTo>
                  <a:lnTo>
                    <a:pt x="18288000" y="10287622"/>
                  </a:lnTo>
                  <a:lnTo>
                    <a:pt x="18288000" y="10278110"/>
                  </a:lnTo>
                  <a:lnTo>
                    <a:pt x="18288000" y="10160"/>
                  </a:lnTo>
                  <a:lnTo>
                    <a:pt x="18285968" y="10160"/>
                  </a:lnTo>
                  <a:lnTo>
                    <a:pt x="18288000" y="10147"/>
                  </a:lnTo>
                  <a:lnTo>
                    <a:pt x="18288000" y="622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76535" y="5980865"/>
            <a:ext cx="3854027" cy="495863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algn="ctr">
              <a:lnSpc>
                <a:spcPts val="1910"/>
              </a:lnSpc>
              <a:spcBef>
                <a:spcPts val="67"/>
              </a:spcBef>
            </a:pP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ĐẠI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HỌC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QUỐC</a:t>
            </a:r>
            <a:r>
              <a:rPr sz="1600" spc="-10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GIA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THÀNH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PHỐ</a:t>
            </a:r>
            <a:r>
              <a:rPr sz="1600" spc="-10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HỒ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CHÍ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MINH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ts val="1910"/>
              </a:lnSpc>
            </a:pPr>
            <a:r>
              <a:rPr sz="1600" b="1" dirty="0">
                <a:solidFill>
                  <a:srgbClr val="1F4E78"/>
                </a:solidFill>
                <a:latin typeface="Calibri"/>
                <a:cs typeface="Calibri"/>
              </a:rPr>
              <a:t>TRƯỜNG</a:t>
            </a:r>
            <a:r>
              <a:rPr sz="1600" b="1" spc="-17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4E78"/>
                </a:solidFill>
                <a:latin typeface="Calibri"/>
                <a:cs typeface="Calibri"/>
              </a:rPr>
              <a:t>ĐẠI</a:t>
            </a:r>
            <a:r>
              <a:rPr sz="1600" b="1" spc="-17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4E78"/>
                </a:solidFill>
                <a:latin typeface="Calibri"/>
                <a:cs typeface="Calibri"/>
              </a:rPr>
              <a:t>HỌC</a:t>
            </a:r>
            <a:r>
              <a:rPr sz="1600" b="1" spc="-17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4E78"/>
                </a:solidFill>
                <a:latin typeface="Calibri"/>
                <a:cs typeface="Calibri"/>
              </a:rPr>
              <a:t>BÁCH</a:t>
            </a:r>
            <a:r>
              <a:rPr sz="1600" b="1" spc="-17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00" b="1" spc="-13" dirty="0">
                <a:solidFill>
                  <a:srgbClr val="1F4E78"/>
                </a:solidFill>
                <a:latin typeface="Calibri"/>
                <a:cs typeface="Calibri"/>
              </a:rPr>
              <a:t>KHOA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473201" y="1365326"/>
            <a:ext cx="9245600" cy="624103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>
              <a:spcBef>
                <a:spcPts val="67"/>
              </a:spcBef>
            </a:pPr>
            <a:r>
              <a:rPr lang="vi-VN" sz="4000" b="1" dirty="0">
                <a:solidFill>
                  <a:srgbClr val="5B9BD5"/>
                </a:solidFill>
                <a:ea typeface="+mn-ea"/>
                <a:cs typeface="times" panose="02020603050405020304" pitchFamily="18" charset="0"/>
              </a:rPr>
              <a:t>EMBEDDED C PROJECT</a:t>
            </a:r>
            <a:endParaRPr sz="4000" b="1" dirty="0">
              <a:solidFill>
                <a:srgbClr val="5B9BD5"/>
              </a:solidFill>
              <a:ea typeface="+mn-ea"/>
              <a:cs typeface="times" panose="02020603050405020304" pitchFamily="18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46083" y="221864"/>
            <a:ext cx="3146637" cy="921597"/>
            <a:chOff x="6369124" y="332796"/>
            <a:chExt cx="4719955" cy="138239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6894" y="332796"/>
              <a:ext cx="1521809" cy="13823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9124" y="551823"/>
              <a:ext cx="2860677" cy="101548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30046" y="2196326"/>
            <a:ext cx="9846310" cy="2808953"/>
          </a:xfrm>
          <a:prstGeom prst="rect">
            <a:avLst/>
          </a:prstGeom>
        </p:spPr>
        <p:txBody>
          <a:bodyPr vert="horz" wrap="square" lIns="0" tIns="114723" rIns="0" bIns="0" rtlCol="0">
            <a:spAutoFit/>
          </a:bodyPr>
          <a:lstStyle/>
          <a:p>
            <a:pPr algn="ctr"/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thống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Điều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khiển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Xe Robot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không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dây</a:t>
            </a:r>
            <a:endParaRPr lang="en-US" sz="3500" dirty="0"/>
          </a:p>
          <a:p>
            <a:pPr algn="ctr"/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sử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dụng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biến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MPU6050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và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PWM</a:t>
            </a:r>
            <a:endParaRPr lang="en-US" sz="3500" dirty="0"/>
          </a:p>
          <a:p>
            <a:pPr algn="ctr"/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trên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Vi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điều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khiển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STM32F103</a:t>
            </a:r>
          </a:p>
          <a:p>
            <a:pPr algn="ctr"/>
            <a:endParaRPr lang="en-US" sz="2667" dirty="0"/>
          </a:p>
          <a:p>
            <a:pPr marR="295078" algn="ctr">
              <a:lnSpc>
                <a:spcPts val="2573"/>
              </a:lnSpc>
            </a:pPr>
            <a:r>
              <a:rPr sz="2233" b="1" dirty="0">
                <a:latin typeface="Calibri"/>
                <a:cs typeface="Calibri"/>
              </a:rPr>
              <a:t>NHÓM:</a:t>
            </a:r>
            <a:r>
              <a:rPr sz="2233" b="1" spc="3" dirty="0">
                <a:latin typeface="Calibri"/>
                <a:cs typeface="Calibri"/>
              </a:rPr>
              <a:t> </a:t>
            </a:r>
            <a:r>
              <a:rPr lang="vi-VN" sz="2233" b="1" spc="3" dirty="0">
                <a:latin typeface="+mj-lt"/>
                <a:cs typeface="times" panose="02020603050405020304" pitchFamily="18" charset="0"/>
              </a:rPr>
              <a:t>Pỏsche with no brakes</a:t>
            </a:r>
          </a:p>
          <a:p>
            <a:pPr marR="295078" algn="ctr">
              <a:lnSpc>
                <a:spcPts val="2573"/>
              </a:lnSpc>
            </a:pPr>
            <a:r>
              <a:rPr lang="vi-VN" sz="2233" b="1" spc="3" dirty="0">
                <a:latin typeface="+mj-lt"/>
                <a:cs typeface="times" panose="02020603050405020304" pitchFamily="18" charset="0"/>
              </a:rPr>
              <a:t>Mentor: Võ Quang Vinh</a:t>
            </a:r>
            <a:endParaRPr sz="2233" dirty="0">
              <a:latin typeface="+mj-lt"/>
              <a:cs typeface="times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78D3B5-3EEB-02A2-5DEF-944C031C19AB}"/>
              </a:ext>
            </a:extLst>
          </p:cNvPr>
          <p:cNvSpPr txBox="1"/>
          <p:nvPr/>
        </p:nvSpPr>
        <p:spPr>
          <a:xfrm>
            <a:off x="1918573" y="5212176"/>
            <a:ext cx="83521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000" b="0" dirty="0">
                <a:solidFill>
                  <a:srgbClr val="64707D"/>
                </a:solidFill>
                <a:latin typeface="+mj-lt"/>
                <a:cs typeface="times" panose="02020603050405020304" pitchFamily="18" charset="0"/>
              </a:rPr>
              <a:t>Mạch Viễn An • Phạm Đỗ Hồng Phúc • Nguyễn Công Tú • Nguyễn Phúc Khải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1175" y="2638881"/>
            <a:ext cx="7074184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643922">
              <a:spcBef>
                <a:spcPts val="67"/>
              </a:spcBef>
            </a:pPr>
            <a:r>
              <a:rPr dirty="0"/>
              <a:t>1.</a:t>
            </a:r>
            <a:r>
              <a:rPr spc="-227" dirty="0"/>
              <a:t> </a:t>
            </a:r>
            <a:r>
              <a:rPr lang="vi-VN" spc="-227" dirty="0"/>
              <a:t>INTRODUCTION</a:t>
            </a:r>
            <a:endParaRPr spc="-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vi-VN"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— Bài toán &amp; Lý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1" y="969264"/>
            <a:ext cx="8977523" cy="457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00898" y="1350860"/>
            <a:ext cx="4656841" cy="2796933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Điều khiển robot car truyền thống thường sử dụng nút bấm, bàn phím hoặc joystick.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Cách điều khiển này yêu cầu người dùng ghi nhớ vị trí/phương thức thao tác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 tương tác chưa thực sự tự nhiên và trực quan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lang="vi-VN" sz="150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robot cần phản ứng nhanh, thao tác bằng nút bấm có thể gây nhầm lẫn.</a:t>
            </a:r>
            <a:endParaRPr lang="vi-VN" sz="1500" dirty="0">
              <a:solidFill>
                <a:srgbClr val="212B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4260" y="1319619"/>
            <a:ext cx="4656841" cy="2828173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 do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joystick.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 tích hợp Accelerometer + Gyroscope, kích thước nhỏ và phù hợp cho hệ thống nhúng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Đề tài kết hợp các nội dung: Embedded C, sensor processing, wireless communication và motor control.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00898" y="4561630"/>
            <a:ext cx="9590203" cy="123444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700">
                <a:solidFill>
                  <a:srgbClr val="212B36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mượt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FB13-51A1-D257-FDEF-1DC3D058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B69ABA1-515C-E7AB-7963-14DF1CB01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175" y="2638881"/>
            <a:ext cx="7074184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643922">
              <a:spcBef>
                <a:spcPts val="67"/>
              </a:spcBef>
            </a:pPr>
            <a:r>
              <a:rPr lang="vi-VN" dirty="0"/>
              <a:t>2</a:t>
            </a:r>
            <a:r>
              <a:rPr dirty="0"/>
              <a:t>.</a:t>
            </a:r>
            <a:r>
              <a:rPr spc="-227" dirty="0"/>
              <a:t> </a:t>
            </a:r>
            <a:r>
              <a:rPr lang="vi-VN" spc="-227" dirty="0"/>
              <a:t>OBJECTIVE</a:t>
            </a:r>
            <a:endParaRPr spc="-13" dirty="0"/>
          </a:p>
        </p:txBody>
      </p:sp>
    </p:spTree>
    <p:extLst>
      <p:ext uri="{BB962C8B-B14F-4D97-AF65-F5344CB8AC3E}">
        <p14:creationId xmlns:p14="http://schemas.microsoft.com/office/powerpoint/2010/main" val="149828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 —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sz="26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27631" y="969264"/>
            <a:ext cx="8911535" cy="457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03963" y="1325880"/>
            <a:ext cx="4587790" cy="27432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 4 bánh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MPU6050 qua I2C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Pitch/Roll.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HC-05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UART.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TB6612FNG, PWM + GPIO.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248" y="1325880"/>
            <a:ext cx="4587790" cy="27432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en-US"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đợi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lùi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calibration,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Kalman Filter.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fail-safe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Bluetooth.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Prototype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34840"/>
            <a:ext cx="1371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vi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1" y="4754880"/>
            <a:ext cx="2057400" cy="65836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endParaRPr sz="14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025998" y="4754880"/>
            <a:ext cx="2057400" cy="65836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cản</a:t>
            </a:r>
            <a:endParaRPr sz="14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24365" y="4749224"/>
            <a:ext cx="2057400" cy="65836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 tầm ngắn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2732" y="4749224"/>
            <a:ext cx="2057400" cy="65836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endParaRPr sz="14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5669280"/>
            <a:ext cx="8778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I2C: 100 kHz   •   UART: 9600 bps   •   PWM: 1 kHz   •   MPU6050: 100 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E9D1-F1D3-9A1A-C9D0-2F9D84ECA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E2DCA8E-EECF-D028-E39D-DCD984FDB0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174" y="2638881"/>
            <a:ext cx="7353901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643922">
              <a:spcBef>
                <a:spcPts val="67"/>
              </a:spcBef>
            </a:pPr>
            <a:r>
              <a:rPr lang="vi-VN" dirty="0"/>
              <a:t>3. Proposed Solution</a:t>
            </a:r>
            <a:endParaRPr spc="-13" dirty="0"/>
          </a:p>
        </p:txBody>
      </p:sp>
    </p:spTree>
    <p:extLst>
      <p:ext uri="{BB962C8B-B14F-4D97-AF65-F5344CB8AC3E}">
        <p14:creationId xmlns:p14="http://schemas.microsoft.com/office/powerpoint/2010/main" val="9710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27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83765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Proposed Solution — Ý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sz="26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27631" y="959837"/>
            <a:ext cx="8911535" cy="457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72541" y="1686455"/>
            <a:ext cx="1417320" cy="8229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endParaRPr sz="15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2689861" y="2093693"/>
            <a:ext cx="640080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29941" y="1686455"/>
            <a:ext cx="1417320" cy="8229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Calibration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747261" y="2093693"/>
            <a:ext cx="640080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74771" y="1682213"/>
            <a:ext cx="1417320" cy="8229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6792091" y="2093693"/>
            <a:ext cx="640079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44741" y="1682213"/>
            <a:ext cx="1417320" cy="8229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cxnSp>
        <p:nvCxnSpPr>
          <p:cNvPr id="14" name="Connector 13"/>
          <p:cNvCxnSpPr>
            <a:cxnSpLocks/>
            <a:endCxn id="15" idx="1"/>
          </p:cNvCxnSpPr>
          <p:nvPr/>
        </p:nvCxnSpPr>
        <p:spPr>
          <a:xfrm>
            <a:off x="8823960" y="2093693"/>
            <a:ext cx="685800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1682213"/>
            <a:ext cx="1417320" cy="8229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40" y="3008093"/>
            <a:ext cx="4404360" cy="2487734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Pitch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lùi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Roll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rẽ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374" y="3008093"/>
            <a:ext cx="4336330" cy="2487734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Gyroscope prediction, Accelerometer measurement update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Kalman.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Calibration 200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bias/offset.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mapping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control value.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Timeout 1.5 s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PWM.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AB005-55EB-8842-5253-403E4E3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E21D696-50CE-0461-1686-EF7B0AEEEA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174" y="2638881"/>
            <a:ext cx="9286397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643922">
              <a:spcBef>
                <a:spcPts val="67"/>
              </a:spcBef>
            </a:pPr>
            <a:r>
              <a:rPr lang="vi-VN" dirty="0"/>
              <a:t>4. SYSTEM ARCHITECTURE</a:t>
            </a:r>
            <a:endParaRPr spc="-13" dirty="0"/>
          </a:p>
        </p:txBody>
      </p:sp>
    </p:spTree>
    <p:extLst>
      <p:ext uri="{BB962C8B-B14F-4D97-AF65-F5344CB8AC3E}">
        <p14:creationId xmlns:p14="http://schemas.microsoft.com/office/powerpoint/2010/main" val="2782792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System Architecture —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sz="26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27631" y="969264"/>
            <a:ext cx="8930389" cy="457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01590" y="1375236"/>
            <a:ext cx="2767945" cy="3086319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Nguồn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HC-05 Master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460" y="1384024"/>
            <a:ext cx="2873950" cy="3086319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HC-05 Slave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TB6612FNG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4 DC Motor</a:t>
            </a:r>
            <a:endParaRPr lang="vi-V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Nguồn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6121" y="1969596"/>
            <a:ext cx="3193753" cy="1890895"/>
          </a:xfrm>
          <a:prstGeom prst="roundRect">
            <a:avLst/>
          </a:prstGeom>
          <a:solidFill>
            <a:srgbClr val="E8F6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Link</a:t>
            </a:r>
          </a:p>
          <a:p>
            <a:pPr>
              <a:spcBef>
                <a:spcPts val="300"/>
              </a:spcBef>
              <a:defRPr sz="1700">
                <a:solidFill>
                  <a:srgbClr val="212B36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HC-05 Master ⇄ HC-05 Slave</a:t>
            </a:r>
          </a:p>
        </p:txBody>
      </p:sp>
      <p:cxnSp>
        <p:nvCxnSpPr>
          <p:cNvPr id="10" name="Connector 9"/>
          <p:cNvCxnSpPr>
            <a:cxnSpLocks/>
            <a:stCxn id="9" idx="1"/>
            <a:endCxn id="7" idx="3"/>
          </p:cNvCxnSpPr>
          <p:nvPr/>
        </p:nvCxnSpPr>
        <p:spPr>
          <a:xfrm flipH="1">
            <a:off x="4069535" y="2915044"/>
            <a:ext cx="376586" cy="3352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8" idx="1"/>
          </p:cNvCxnSpPr>
          <p:nvPr/>
        </p:nvCxnSpPr>
        <p:spPr>
          <a:xfrm>
            <a:off x="7639874" y="2927184"/>
            <a:ext cx="376586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81199" y="5261739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sz="1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sz="1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sz="1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I2C • UART • PWM/GPIO • Pin 3.7 / 7.4 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5AA67-6B9D-C68A-0760-B65EE8BD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>
            <a:extLst>
              <a:ext uri="{FF2B5EF4-FFF2-40B4-BE49-F238E27FC236}">
                <a16:creationId xmlns:a16="http://schemas.microsoft.com/office/drawing/2014/main" id="{ABFEA635-5D4D-0C70-C0B8-B83148ED5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8E1B3D-60E5-481B-D250-26C6CB8F73AD}"/>
              </a:ext>
            </a:extLst>
          </p:cNvPr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 System Architecture — </a:t>
            </a:r>
            <a:r>
              <a:rPr kumimoji="0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Sơ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tổng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thể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33DB5E-C2E4-4B97-7C57-4629AE60A6D0}"/>
              </a:ext>
            </a:extLst>
          </p:cNvPr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1D554EF-C487-6CD4-0D23-8EB9C5B15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28" y="901432"/>
            <a:ext cx="10688542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34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42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System Architecture — </a:t>
            </a:r>
            <a:r>
              <a:rPr lang="vi-VN"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Luồng xử lý dữ liệu</a:t>
            </a:r>
            <a:endParaRPr sz="26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27631" y="969264"/>
            <a:ext cx="8883255" cy="457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6552" y="1695882"/>
            <a:ext cx="1901952" cy="18288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 thập dữ liệu</a:t>
            </a:r>
          </a:p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Ax, Ay, Az</a:t>
            </a:r>
            <a:b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</a:t>
            </a:r>
            <a:r>
              <a:rPr lang="el-G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l-G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2511898" y="2610282"/>
            <a:ext cx="197775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09673" y="1700124"/>
            <a:ext cx="2346961" cy="18288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Tiền xử lý &amp; Calibration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 đổi dữ liệu raw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 chỉnh gyro 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Pitch/Roll offset</a:t>
            </a:r>
            <a:endParaRPr lang="vi-VN" sz="1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056634" y="2577445"/>
            <a:ext cx="201169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73323" y="1700124"/>
            <a:ext cx="2011679" cy="18288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 lượng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Pitch/Roll </a:t>
            </a:r>
            <a:r>
              <a:rPr lang="vi-V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 Pitch/Roll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7285002" y="2577445"/>
            <a:ext cx="423669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28279" y="1709304"/>
            <a:ext cx="2011679" cy="18288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en-US"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endParaRPr lang="en-US" sz="15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±45° → ±100</a:t>
            </a: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±5°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39958" y="2602964"/>
            <a:ext cx="201168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46325" y="1684842"/>
            <a:ext cx="2121125" cy="18288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nối</a:t>
            </a:r>
          </a:p>
          <a:p>
            <a:pPr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9600 bps</a:t>
            </a:r>
            <a:b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PWM + GPIO → motor</a:t>
            </a:r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09673" y="4534886"/>
            <a:ext cx="6830286" cy="96012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>
              <a:spcBef>
                <a:spcPts val="300"/>
              </a:spcBef>
              <a:defRPr sz="1600">
                <a:solidFill>
                  <a:srgbClr val="212B36"/>
                </a:solidFill>
                <a:latin typeface="Calibri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Pitch/Roll </a:t>
            </a:r>
            <a:r>
              <a:rPr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Kalman → Forward control / Turn control → Robot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7EAD6-2FB4-7FB5-7970-39223BDE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CE65390-C7D5-92EC-0090-C94AD588A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174" y="2638881"/>
            <a:ext cx="9286397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643922">
              <a:spcBef>
                <a:spcPts val="67"/>
              </a:spcBef>
            </a:pPr>
            <a:r>
              <a:rPr lang="vi-VN" dirty="0"/>
              <a:t>5. </a:t>
            </a:r>
            <a:r>
              <a:rPr lang="vi-VN" dirty="0">
                <a:solidFill>
                  <a:srgbClr val="1F4E79"/>
                </a:solidFill>
              </a:rPr>
              <a:t>IMPLEMENTAION</a:t>
            </a:r>
            <a:endParaRPr spc="-13" dirty="0"/>
          </a:p>
        </p:txBody>
      </p:sp>
    </p:spTree>
    <p:extLst>
      <p:ext uri="{BB962C8B-B14F-4D97-AF65-F5344CB8AC3E}">
        <p14:creationId xmlns:p14="http://schemas.microsoft.com/office/powerpoint/2010/main" val="138530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Implementation — Hardware /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23960" y="6455664"/>
            <a:ext cx="2011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4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C Project • 08/2026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00800"/>
            <a:ext cx="2743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10642" y="1280160"/>
            <a:ext cx="4785358" cy="324612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STM32F103C8T6 ở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MPU6050: I2C1 (PB6/PB7).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HC-05: UART/USART1, Master–Slave.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TB6612FNG + 4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DC.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Li-ion 3.7 V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7.4 V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LM2596/AMS1117.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80160"/>
            <a:ext cx="4389118" cy="32461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STM32 HAL + C.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I2C 100 kHz; UART 9600 bps; PWM 1kHz.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Calibration + atan2f + Kalman Filter.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FSM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fail-safe.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Timeout 1.5 s → PWM =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92040"/>
            <a:ext cx="1463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nghệ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28523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528523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STM32 HAL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28523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59" y="528523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78815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 SPP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578815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78815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59" y="578815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 Filter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Implementation — Kalman 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64920" y="1325880"/>
            <a:ext cx="4739954" cy="27432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vi-VN"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sử dụng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Kalman?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Accelerometer: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rung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Gyroscope: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bias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drift.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Kalman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fusion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0" y="1325880"/>
            <a:ext cx="4831080" cy="27432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pháp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2 bộ Kalman độc lập: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Pitch = Kalman(Pitch_acc, </a:t>
            </a:r>
            <a:r>
              <a:rPr lang="el-G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l-G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t).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Roll = Kalman(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Roll_acc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ωx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Q_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 = 0.001;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Q_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= 0.003;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R_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= 0.03.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4572000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vi-VN" sz="1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Gyroscope → Prediction  |  Accelerometer → Measurement Update  |  → Estimated Angle</a:t>
            </a:r>
            <a:endParaRPr sz="16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Implementation — Calibration &amp;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66334" y="1325880"/>
            <a:ext cx="4663440" cy="269748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Calibration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MPU6050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Thu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thập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 trung bình vận tốc góc để xác định gyro bias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Pitch/Roll offset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0°.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2226" y="1325880"/>
            <a:ext cx="4663440" cy="2697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MPU6050 sampling = 100 Hz.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Main loop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20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≈ 50 Hz.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6334" y="4526280"/>
            <a:ext cx="3120273" cy="9144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Q_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angle</a:t>
            </a: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tin measurement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93527" y="4526280"/>
            <a:ext cx="3053342" cy="9144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Q_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bias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53789" y="4526280"/>
            <a:ext cx="2871877" cy="9144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R_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tin accelerometer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Implementation — Mapping &amp; PWM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45920" y="1325880"/>
            <a:ext cx="4754880" cy="347472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control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−45° … +45°.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−100 … +100.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−5° &lt; θ &lt; +5° → control = 0.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thức: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=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/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45)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100.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554480"/>
            <a:ext cx="1874519" cy="47548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−45°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660302"/>
            <a:ext cx="1143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221991"/>
            <a:ext cx="1874519" cy="47548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−22.5°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348273"/>
            <a:ext cx="1143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889504"/>
            <a:ext cx="1874519" cy="47548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030900"/>
            <a:ext cx="1143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557015"/>
            <a:ext cx="1874519" cy="47548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+22.5°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5380" y="3666074"/>
            <a:ext cx="1143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224528"/>
            <a:ext cx="1874519" cy="47548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+45°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339161"/>
            <a:ext cx="1143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90481" y="5068969"/>
            <a:ext cx="4852542" cy="1508583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 &amp; </a:t>
            </a:r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endParaRPr sz="17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 cycle PWM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GPIO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endParaRPr lang="vi-V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Pitch → forward </a:t>
            </a:r>
            <a:endParaRPr lang="vi-V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Roll → turn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Implementation — Finite State Machine (FSM)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1874519" cy="77724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92577" y="1499390"/>
            <a:ext cx="1874519" cy="77724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57600"/>
            <a:ext cx="1874519" cy="77724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51423" y="1554480"/>
            <a:ext cx="1874519" cy="77724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800" y="3657600"/>
            <a:ext cx="1874519" cy="77724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1" y="4508723"/>
            <a:ext cx="1874519" cy="77724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FAIL-SAFE</a:t>
            </a:r>
          </a:p>
        </p:txBody>
      </p:sp>
      <p:cxnSp>
        <p:nvCxnSpPr>
          <p:cNvPr id="13" name="Connector 12"/>
          <p:cNvCxnSpPr>
            <a:cxnSpLocks/>
            <a:endCxn id="8" idx="3"/>
          </p:cNvCxnSpPr>
          <p:nvPr/>
        </p:nvCxnSpPr>
        <p:spPr>
          <a:xfrm flipH="1" flipV="1">
            <a:off x="3467096" y="1888010"/>
            <a:ext cx="1104904" cy="128016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</p:cNvCxnSpPr>
          <p:nvPr/>
        </p:nvCxnSpPr>
        <p:spPr>
          <a:xfrm flipH="1">
            <a:off x="3703320" y="2592994"/>
            <a:ext cx="937259" cy="1201766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endCxn id="10" idx="1"/>
          </p:cNvCxnSpPr>
          <p:nvPr/>
        </p:nvCxnSpPr>
        <p:spPr>
          <a:xfrm flipV="1">
            <a:off x="6446519" y="1943100"/>
            <a:ext cx="1104904" cy="298594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endCxn id="11" idx="1"/>
          </p:cNvCxnSpPr>
          <p:nvPr/>
        </p:nvCxnSpPr>
        <p:spPr>
          <a:xfrm>
            <a:off x="6438899" y="2537460"/>
            <a:ext cx="1485901" cy="150876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  <a:stCxn id="7" idx="2"/>
            <a:endCxn id="12" idx="0"/>
          </p:cNvCxnSpPr>
          <p:nvPr/>
        </p:nvCxnSpPr>
        <p:spPr>
          <a:xfrm>
            <a:off x="5509260" y="2606040"/>
            <a:ext cx="182881" cy="1902683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88818" y="1288827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64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&gt; +25°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5972" y="4434840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64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&lt; −25°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3612" y="1317329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64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&lt; −25°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8682" y="4498848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64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&gt; +25°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3099" y="4221323"/>
            <a:ext cx="19202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4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sz="1000" b="0" dirty="0">
                <a:solidFill>
                  <a:srgbClr val="64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Bluetooth &gt; 1.5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83080" y="5623559"/>
            <a:ext cx="8869680" cy="841249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0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±15°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STOP • Timeout 1.5 s → PWM = 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ED241-E386-24B1-4868-775273EA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8C631A0-8E85-A9E6-1350-752DDA94A8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174" y="2638881"/>
            <a:ext cx="9446653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643922">
              <a:spcBef>
                <a:spcPts val="67"/>
              </a:spcBef>
            </a:pPr>
            <a:r>
              <a:rPr lang="vi-VN" dirty="0"/>
              <a:t>6. </a:t>
            </a:r>
            <a:r>
              <a:rPr lang="vi-VN" dirty="0">
                <a:solidFill>
                  <a:srgbClr val="1F4E79"/>
                </a:solidFill>
              </a:rPr>
              <a:t>EXPERIMENT &amp; RESULTS </a:t>
            </a:r>
            <a:endParaRPr spc="-13" dirty="0"/>
          </a:p>
        </p:txBody>
      </p:sp>
    </p:spTree>
    <p:extLst>
      <p:ext uri="{BB962C8B-B14F-4D97-AF65-F5344CB8AC3E}">
        <p14:creationId xmlns:p14="http://schemas.microsoft.com/office/powerpoint/2010/main" val="3601918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Experiment &amp; Results — Setup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</a:t>
            </a: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endParaRPr sz="26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64919" y="1332007"/>
            <a:ext cx="4909637" cy="278892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MPU6050 + HC-05 Master.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Xe: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HC-05 Slave + TB6612FNG + 4 DC Motor.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chướng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calibration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0226" y="1325880"/>
            <a:ext cx="4425413" cy="27889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lùi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rẽ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0°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Bluetooth → fail-safe.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4617720"/>
            <a:ext cx="8503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MPU6050 100 Hz   |   Loop ≈ 50 Hz   |   UART 9600 bps   |   PWM 1 kHz   |   Timeout 1.5 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Experiment &amp; Results —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828800" y="1464696"/>
            <a:ext cx="8577072" cy="786384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 / Roll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Kalman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dao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measurement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642426"/>
            <a:ext cx="8577072" cy="786384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Gyroscope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799" y="3820156"/>
            <a:ext cx="8644379" cy="786384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Pitch/Roll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lùi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rẽ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997886"/>
            <a:ext cx="8644378" cy="786384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An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1.5 s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Experiment &amp; Results —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So </a:t>
            </a:r>
            <a:r>
              <a:rPr sz="26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endParaRPr sz="26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63040" y="1325880"/>
            <a:ext cx="3246120" cy="315468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dao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rung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25880"/>
            <a:ext cx="3063240" cy="3154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Gyroscope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lũy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bias → drift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063240" cy="315468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+ measurement.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Cân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800600"/>
            <a:ext cx="88696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Pitch/Roll • mapping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fail-safe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94458" y="5532120"/>
            <a:ext cx="1874519" cy="438912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5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40479" y="5532120"/>
            <a:ext cx="1874519" cy="438912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500" y="5532120"/>
            <a:ext cx="1874519" cy="438912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mượt</a:t>
            </a:r>
            <a:endParaRPr sz="15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732521" y="5532120"/>
            <a:ext cx="1874519" cy="438912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5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EB213-00D8-34DA-6AE9-E36DE1D6E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FEC254D-C2CE-3217-BE86-57BFDE6AB7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174" y="2638881"/>
            <a:ext cx="9446653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643922">
              <a:spcBef>
                <a:spcPts val="67"/>
              </a:spcBef>
            </a:pPr>
            <a:r>
              <a:rPr lang="vi-VN" dirty="0"/>
              <a:t>7. </a:t>
            </a:r>
            <a:r>
              <a:rPr lang="vi-VN" dirty="0">
                <a:solidFill>
                  <a:srgbClr val="1F4E79"/>
                </a:solidFill>
              </a:rPr>
              <a:t>DEMO</a:t>
            </a:r>
            <a:endParaRPr spc="-13" dirty="0"/>
          </a:p>
        </p:txBody>
      </p:sp>
    </p:spTree>
    <p:extLst>
      <p:ext uri="{BB962C8B-B14F-4D97-AF65-F5344CB8AC3E}">
        <p14:creationId xmlns:p14="http://schemas.microsoft.com/office/powerpoint/2010/main" val="3250122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Demo / Discussion — Demo thực tế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65077" y="1577340"/>
            <a:ext cx="2797876" cy="120700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calibration.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575631"/>
            <a:ext cx="2720576" cy="120700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7383" y="1577340"/>
            <a:ext cx="2720576" cy="120700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FORWARD / BACKWARD.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4015" y="3429000"/>
            <a:ext cx="2797876" cy="120700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endParaRPr lang="vi-V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/ RIGHT.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17540" y="3437230"/>
            <a:ext cx="2720576" cy="120700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Bluetooth →</a:t>
            </a:r>
            <a:endParaRPr lang="vi-V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FAIL-SAFE → STOP.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65077" y="5074920"/>
            <a:ext cx="9584547" cy="804672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endParaRPr sz="15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Pitch/Roll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fail-safe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timeout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Demo / Discussion — Ưu điểm &amp; Hạn chế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00200" y="1384916"/>
            <a:ext cx="4709160" cy="2746701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Giao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sensing → estimation → wireless → actuation.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calibration, Kalman,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fail-safe.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325880"/>
            <a:ext cx="4297680" cy="280573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Phạm vi Bluetooth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409" y="4540420"/>
            <a:ext cx="213988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sz="17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35479" y="4932522"/>
            <a:ext cx="4160520" cy="3657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 / Web Bluetooth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4932522"/>
            <a:ext cx="4160520" cy="3657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IMU </a:t>
            </a:r>
            <a:r>
              <a:rPr sz="12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sz="12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2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35479" y="5628265"/>
            <a:ext cx="4160520" cy="3657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avoidance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5590890"/>
            <a:ext cx="4160520" cy="3657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Logging &amp; benchmark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395F8-8169-3B51-3E4E-B41A6033E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BB441E4-31D7-CDC2-A4BC-14DCF23079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175" y="2501395"/>
            <a:ext cx="8456838" cy="185520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643922">
              <a:spcBef>
                <a:spcPts val="67"/>
              </a:spcBef>
            </a:pPr>
            <a:r>
              <a:rPr lang="vi-VN" dirty="0"/>
              <a:t>8. </a:t>
            </a:r>
            <a:r>
              <a:rPr lang="vi-VN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  <a:endParaRPr spc="-13" dirty="0"/>
          </a:p>
        </p:txBody>
      </p:sp>
    </p:spTree>
    <p:extLst>
      <p:ext uri="{BB962C8B-B14F-4D97-AF65-F5344CB8AC3E}">
        <p14:creationId xmlns:p14="http://schemas.microsoft.com/office/powerpoint/2010/main" val="3853169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07592" y="1350861"/>
            <a:ext cx="4709160" cy="329184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MPU6050 + Kalman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Pitch/Roll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HC-05/UART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STM32 + TB6612 + PWM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FSM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fail-safe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5248" y="1350861"/>
            <a:ext cx="4709160" cy="32918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latency, packet loss,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Thay HC-05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BLE / Web Bluetooth.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control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257800"/>
            <a:ext cx="8686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robot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2091569"/>
            <a:ext cx="484632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154680"/>
            <a:ext cx="63093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10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anh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750602"/>
            <a:ext cx="6126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304481"/>
            <a:ext cx="66751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64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HCMUT • Embedded C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1878</Words>
  <Application>Microsoft Office PowerPoint</Application>
  <PresentationFormat>Widescreen</PresentationFormat>
  <Paragraphs>265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Times New Roman</vt:lpstr>
      <vt:lpstr>Office Theme</vt:lpstr>
      <vt:lpstr>1_Office Theme</vt:lpstr>
      <vt:lpstr>EMBEDDED C PROJECT</vt:lpstr>
      <vt:lpstr>1. INTRODUCTION</vt:lpstr>
      <vt:lpstr>PowerPoint Presentation</vt:lpstr>
      <vt:lpstr>2. OBJECTIVE</vt:lpstr>
      <vt:lpstr>PowerPoint Presentation</vt:lpstr>
      <vt:lpstr>3. Proposed Solution</vt:lpstr>
      <vt:lpstr>PowerPoint Presentation</vt:lpstr>
      <vt:lpstr>4. SYSTEM ARCHITECTURE</vt:lpstr>
      <vt:lpstr>PowerPoint Presentation</vt:lpstr>
      <vt:lpstr>PowerPoint Presentation</vt:lpstr>
      <vt:lpstr>PowerPoint Presentation</vt:lpstr>
      <vt:lpstr>5. IMPLEMENTAION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 EXPERIMENT &amp; RESULTS </vt:lpstr>
      <vt:lpstr>PowerPoint Presentation</vt:lpstr>
      <vt:lpstr>PowerPoint Presentation</vt:lpstr>
      <vt:lpstr>PowerPoint Presentation</vt:lpstr>
      <vt:lpstr>7. DEMO</vt:lpstr>
      <vt:lpstr>PowerPoint Presentation</vt:lpstr>
      <vt:lpstr>PowerPoint Presentation</vt:lpstr>
      <vt:lpstr>8. CONCLUSION &amp; FUTURE WORK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Công Tú</cp:lastModifiedBy>
  <cp:revision>4</cp:revision>
  <dcterms:created xsi:type="dcterms:W3CDTF">2013-01-27T09:14:16Z</dcterms:created>
  <dcterms:modified xsi:type="dcterms:W3CDTF">2026-08-23T12:35:19Z</dcterms:modified>
  <cp:category/>
</cp:coreProperties>
</file>